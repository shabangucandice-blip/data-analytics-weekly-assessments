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1.xml" ContentType="application/vnd.openxmlformats-officedocument.drawingml.chartshape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sldIdLst>
    <p:sldId id="259" r:id="rId2"/>
    <p:sldId id="258" r:id="rId3"/>
    <p:sldId id="260" r:id="rId4"/>
    <p:sldId id="261" r:id="rId5"/>
    <p:sldId id="262" r:id="rId6"/>
    <p:sldId id="263" r:id="rId7"/>
    <p:sldId id="264" r:id="rId8"/>
    <p:sldId id="274" r:id="rId9"/>
    <p:sldId id="275" r:id="rId10"/>
    <p:sldId id="276" r:id="rId11"/>
    <p:sldId id="277" r:id="rId12"/>
    <p:sldId id="278" r:id="rId13"/>
    <p:sldId id="279" r:id="rId14"/>
    <p:sldId id="280" r:id="rId15"/>
    <p:sldId id="265" r:id="rId16"/>
    <p:sldId id="281" r:id="rId17"/>
    <p:sldId id="268" r:id="rId18"/>
    <p:sldId id="270" r:id="rId19"/>
    <p:sldId id="272" r:id="rId20"/>
    <p:sldId id="273" r:id="rId21"/>
    <p:sldId id="28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6D45"/>
    <a:srgbClr val="DDA147"/>
    <a:srgbClr val="B54C2D"/>
    <a:srgbClr val="B66952"/>
    <a:srgbClr val="DF98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0E3CDF-E11A-DF45-9C60-CF0173D3B925}" v="1326" dt="2026-03-30T12:28:36.4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437" autoAdjust="0"/>
    <p:restoredTop sz="94660"/>
  </p:normalViewPr>
  <p:slideViewPr>
    <p:cSldViewPr snapToGrid="0">
      <p:cViewPr>
        <p:scale>
          <a:sx n="82" d="100"/>
          <a:sy n="82" d="100"/>
        </p:scale>
        <p:origin x="1552" y="10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oleObject" Target="file:////Users/candiceshabangu/Desktop/highest%20-lowest%20performing%20produc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candiceshabangu/Desktop/highest%20-lowest%20performing%20produc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candiceshabangu/Desktop/highest%20-lowest%20performing%20produc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candiceshabangu/Desktop/highest%20-lowest%20performing%20produc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candiceshabangu/Downloads/BrightCoffee_analysis-4.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3" Type="http://schemas.openxmlformats.org/officeDocument/2006/relationships/oleObject" Target="file:////Users/candiceshabangu/Desktop/highest%20-lowest%20performing%20produc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Users/candiceshabangu/Desktop/highest%20-lowest%20performing%20produc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Users/candiceshabangu/Desktop/highest%20-lowest%20performing%20produc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Users/candiceshabangu/Desktop/highest%20-lowest%20performing%20product.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Users/candiceshabangu/Desktop/highest%20-lowest%20performing%20product.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[highest -lowest performing product.xlsx]Store Analysis!PivotTable9</c:name>
    <c:fmtId val="23"/>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dirty="0"/>
              <a:t>Revenue</a:t>
            </a:r>
            <a:r>
              <a:rPr lang="en-US" baseline="0" dirty="0"/>
              <a:t> across all 3 locations</a:t>
            </a:r>
            <a:endParaRPr lang="en-US" dirty="0"/>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circle"/>
          <c:size val="6"/>
          <c:spPr>
            <a:solidFill>
              <a:schemeClr val="accent2">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circle"/>
          <c:size val="6"/>
          <c:spPr>
            <a:solidFill>
              <a:schemeClr val="accent3">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7.0206982769919449E-2"/>
          <c:y val="9.7829548165983382E-2"/>
          <c:w val="0.83245522331977861"/>
          <c:h val="0.81410049183734734"/>
        </c:manualLayout>
      </c:layout>
      <c:bar3DChart>
        <c:barDir val="col"/>
        <c:grouping val="clustered"/>
        <c:varyColors val="0"/>
        <c:ser>
          <c:idx val="0"/>
          <c:order val="0"/>
          <c:tx>
            <c:strRef>
              <c:f>'Store Analysis'!$B$3:$B$4</c:f>
              <c:strCache>
                <c:ptCount val="1"/>
                <c:pt idx="0">
                  <c:v>Astoria</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cat>
            <c:strRef>
              <c:f>'Store Analysis'!$A$5:$A$11</c:f>
              <c:strCache>
                <c:ptCount val="6"/>
                <c:pt idx="0">
                  <c:v>Jan</c:v>
                </c:pt>
                <c:pt idx="1">
                  <c:v>Feb</c:v>
                </c:pt>
                <c:pt idx="2">
                  <c:v>Mar</c:v>
                </c:pt>
                <c:pt idx="3">
                  <c:v>Apr</c:v>
                </c:pt>
                <c:pt idx="4">
                  <c:v>May</c:v>
                </c:pt>
                <c:pt idx="5">
                  <c:v>Jun</c:v>
                </c:pt>
              </c:strCache>
            </c:strRef>
          </c:cat>
          <c:val>
            <c:numRef>
              <c:f>'Store Analysis'!$B$5:$B$11</c:f>
              <c:numCache>
                <c:formatCode>_([$$-409]* #,##0.00_);_([$$-409]* \(#,##0.00\);_([$$-409]* "-"??_);_(@_)</c:formatCode>
                <c:ptCount val="6"/>
                <c:pt idx="0">
                  <c:v>27313.660000000076</c:v>
                </c:pt>
                <c:pt idx="1">
                  <c:v>25105.340000000077</c:v>
                </c:pt>
                <c:pt idx="2">
                  <c:v>32835.430000000029</c:v>
                </c:pt>
                <c:pt idx="3">
                  <c:v>39477.609999999833</c:v>
                </c:pt>
                <c:pt idx="4">
                  <c:v>52428.759999999311</c:v>
                </c:pt>
                <c:pt idx="5">
                  <c:v>55083.109999999266</c:v>
                </c:pt>
              </c:numCache>
            </c:numRef>
          </c:val>
          <c:extLst>
            <c:ext xmlns:c16="http://schemas.microsoft.com/office/drawing/2014/chart" uri="{C3380CC4-5D6E-409C-BE32-E72D297353CC}">
              <c16:uniqueId val="{00000000-255B-D84E-83D5-EC46FD6EBF42}"/>
            </c:ext>
          </c:extLst>
        </c:ser>
        <c:ser>
          <c:idx val="1"/>
          <c:order val="1"/>
          <c:tx>
            <c:strRef>
              <c:f>'Store Analysis'!$C$3:$C$4</c:f>
              <c:strCache>
                <c:ptCount val="1"/>
                <c:pt idx="0">
                  <c:v>Hell's Kitchen</c:v>
                </c:pt>
              </c:strCache>
            </c:strRef>
          </c:tx>
          <c:spPr>
            <a:solidFill>
              <a:schemeClr val="accent2">
                <a:alpha val="85000"/>
              </a:schemeClr>
            </a:solidFill>
            <a:ln w="9525" cap="flat" cmpd="sng" algn="ctr">
              <a:solidFill>
                <a:schemeClr val="accent2">
                  <a:lumMod val="75000"/>
                </a:schemeClr>
              </a:solidFill>
              <a:round/>
            </a:ln>
            <a:effectLst/>
            <a:sp3d contourW="9525">
              <a:contourClr>
                <a:schemeClr val="accent2">
                  <a:lumMod val="75000"/>
                </a:schemeClr>
              </a:contourClr>
            </a:sp3d>
          </c:spPr>
          <c:invertIfNegative val="0"/>
          <c:cat>
            <c:strRef>
              <c:f>'Store Analysis'!$A$5:$A$11</c:f>
              <c:strCache>
                <c:ptCount val="6"/>
                <c:pt idx="0">
                  <c:v>Jan</c:v>
                </c:pt>
                <c:pt idx="1">
                  <c:v>Feb</c:v>
                </c:pt>
                <c:pt idx="2">
                  <c:v>Mar</c:v>
                </c:pt>
                <c:pt idx="3">
                  <c:v>Apr</c:v>
                </c:pt>
                <c:pt idx="4">
                  <c:v>May</c:v>
                </c:pt>
                <c:pt idx="5">
                  <c:v>Jun</c:v>
                </c:pt>
              </c:strCache>
            </c:strRef>
          </c:cat>
          <c:val>
            <c:numRef>
              <c:f>'Store Analysis'!$C$5:$C$11</c:f>
              <c:numCache>
                <c:formatCode>_([$$-409]* #,##0.00_);_([$$-409]* \(#,##0.00\);_([$$-409]* "-"??_);_(@_)</c:formatCode>
                <c:ptCount val="6"/>
                <c:pt idx="0">
                  <c:v>27820.64999999998</c:v>
                </c:pt>
                <c:pt idx="1">
                  <c:v>25719.799999999977</c:v>
                </c:pt>
                <c:pt idx="2">
                  <c:v>33110.569999999861</c:v>
                </c:pt>
                <c:pt idx="3">
                  <c:v>40304.139999999752</c:v>
                </c:pt>
                <c:pt idx="4">
                  <c:v>52598.929999999375</c:v>
                </c:pt>
                <c:pt idx="5">
                  <c:v>56957.079999999347</c:v>
                </c:pt>
              </c:numCache>
            </c:numRef>
          </c:val>
          <c:extLst>
            <c:ext xmlns:c16="http://schemas.microsoft.com/office/drawing/2014/chart" uri="{C3380CC4-5D6E-409C-BE32-E72D297353CC}">
              <c16:uniqueId val="{00000001-255B-D84E-83D5-EC46FD6EBF42}"/>
            </c:ext>
          </c:extLst>
        </c:ser>
        <c:ser>
          <c:idx val="2"/>
          <c:order val="2"/>
          <c:tx>
            <c:strRef>
              <c:f>'Store Analysis'!$D$3:$D$4</c:f>
              <c:strCache>
                <c:ptCount val="1"/>
                <c:pt idx="0">
                  <c:v>Lower Manhattan</c:v>
                </c:pt>
              </c:strCache>
            </c:strRef>
          </c:tx>
          <c:spPr>
            <a:solidFill>
              <a:schemeClr val="accent3">
                <a:alpha val="85000"/>
              </a:schemeClr>
            </a:solidFill>
            <a:ln w="9525" cap="flat" cmpd="sng" algn="ctr">
              <a:solidFill>
                <a:schemeClr val="accent3">
                  <a:lumMod val="75000"/>
                </a:schemeClr>
              </a:solidFill>
              <a:round/>
            </a:ln>
            <a:effectLst/>
            <a:sp3d contourW="9525">
              <a:contourClr>
                <a:schemeClr val="accent3">
                  <a:lumMod val="75000"/>
                </a:schemeClr>
              </a:contourClr>
            </a:sp3d>
          </c:spPr>
          <c:invertIfNegative val="0"/>
          <c:cat>
            <c:strRef>
              <c:f>'Store Analysis'!$A$5:$A$11</c:f>
              <c:strCache>
                <c:ptCount val="6"/>
                <c:pt idx="0">
                  <c:v>Jan</c:v>
                </c:pt>
                <c:pt idx="1">
                  <c:v>Feb</c:v>
                </c:pt>
                <c:pt idx="2">
                  <c:v>Mar</c:v>
                </c:pt>
                <c:pt idx="3">
                  <c:v>Apr</c:v>
                </c:pt>
                <c:pt idx="4">
                  <c:v>May</c:v>
                </c:pt>
                <c:pt idx="5">
                  <c:v>Jun</c:v>
                </c:pt>
              </c:strCache>
            </c:strRef>
          </c:cat>
          <c:val>
            <c:numRef>
              <c:f>'Store Analysis'!$D$5:$D$11</c:f>
              <c:numCache>
                <c:formatCode>_([$$-409]* #,##0.00_);_([$$-409]* \(#,##0.00\);_([$$-409]* "-"??_);_(@_)</c:formatCode>
                <c:ptCount val="6"/>
                <c:pt idx="0">
                  <c:v>26543.429999999942</c:v>
                </c:pt>
                <c:pt idx="1">
                  <c:v>25320.049999999905</c:v>
                </c:pt>
                <c:pt idx="2">
                  <c:v>32888.679999999811</c:v>
                </c:pt>
                <c:pt idx="3">
                  <c:v>39159.329999999653</c:v>
                </c:pt>
                <c:pt idx="4">
                  <c:v>51700.0699999996</c:v>
                </c:pt>
                <c:pt idx="5">
                  <c:v>54445.689999999653</c:v>
                </c:pt>
              </c:numCache>
            </c:numRef>
          </c:val>
          <c:extLst>
            <c:ext xmlns:c16="http://schemas.microsoft.com/office/drawing/2014/chart" uri="{C3380CC4-5D6E-409C-BE32-E72D297353CC}">
              <c16:uniqueId val="{00000002-255B-D84E-83D5-EC46FD6EBF42}"/>
            </c:ext>
          </c:extLst>
        </c:ser>
        <c:dLbls>
          <c:showLegendKey val="0"/>
          <c:showVal val="0"/>
          <c:showCatName val="0"/>
          <c:showSerName val="0"/>
          <c:showPercent val="0"/>
          <c:showBubbleSize val="0"/>
        </c:dLbls>
        <c:gapWidth val="65"/>
        <c:shape val="box"/>
        <c:axId val="305823776"/>
        <c:axId val="305952672"/>
        <c:axId val="0"/>
      </c:bar3DChart>
      <c:catAx>
        <c:axId val="305823776"/>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305952672"/>
        <c:crosses val="autoZero"/>
        <c:auto val="1"/>
        <c:lblAlgn val="ctr"/>
        <c:lblOffset val="100"/>
        <c:noMultiLvlLbl val="0"/>
      </c:catAx>
      <c:valAx>
        <c:axId val="305952672"/>
        <c:scaling>
          <c:orientation val="minMax"/>
        </c:scaling>
        <c:delete val="0"/>
        <c:axPos val="l"/>
        <c:majorGridlines>
          <c:spPr>
            <a:ln w="9525" cap="flat" cmpd="sng" algn="ctr">
              <a:solidFill>
                <a:schemeClr val="dk1">
                  <a:lumMod val="15000"/>
                  <a:lumOff val="85000"/>
                </a:schemeClr>
              </a:solidFill>
              <a:round/>
            </a:ln>
            <a:effectLst/>
          </c:spPr>
        </c:majorGridlines>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305823776"/>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[highest -lowest performing product.xlsx]Total sales -Time buckets !PivotTable10</c:name>
    <c:fmtId val="29"/>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Total sales and Time buckets </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diamond"/>
          <c:size val="5"/>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w="9525">
              <a:solidFill>
                <a:schemeClr val="accent2"/>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square"/>
          <c:size val="5"/>
          <c:spPr>
            <a:gradFill rotWithShape="1">
              <a:gsLst>
                <a:gs pos="0">
                  <a:schemeClr val="accent4">
                    <a:tint val="94000"/>
                    <a:satMod val="103000"/>
                    <a:lumMod val="102000"/>
                  </a:schemeClr>
                </a:gs>
                <a:gs pos="50000">
                  <a:schemeClr val="accent4">
                    <a:shade val="100000"/>
                    <a:satMod val="110000"/>
                    <a:lumMod val="100000"/>
                  </a:schemeClr>
                </a:gs>
                <a:gs pos="100000">
                  <a:schemeClr val="accent4">
                    <a:shade val="78000"/>
                    <a:satMod val="120000"/>
                    <a:lumMod val="99000"/>
                  </a:schemeClr>
                </a:gs>
              </a:gsLst>
              <a:lin ang="5400000" scaled="0"/>
            </a:gradFill>
            <a:ln w="9525">
              <a:solidFill>
                <a:schemeClr val="accent4"/>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triangle"/>
          <c:size val="5"/>
          <c:spPr>
            <a:gradFill rotWithShape="1">
              <a:gsLst>
                <a:gs pos="0">
                  <a:schemeClr val="accent6">
                    <a:tint val="94000"/>
                    <a:satMod val="103000"/>
                    <a:lumMod val="102000"/>
                  </a:schemeClr>
                </a:gs>
                <a:gs pos="50000">
                  <a:schemeClr val="accent6">
                    <a:shade val="100000"/>
                    <a:satMod val="110000"/>
                    <a:lumMod val="100000"/>
                  </a:schemeClr>
                </a:gs>
                <a:gs pos="100000">
                  <a:schemeClr val="accent6">
                    <a:shade val="78000"/>
                    <a:satMod val="120000"/>
                    <a:lumMod val="99000"/>
                  </a:schemeClr>
                </a:gs>
              </a:gsLst>
              <a:lin ang="5400000" scaled="0"/>
            </a:gradFill>
            <a:ln w="9525">
              <a:solidFill>
                <a:schemeClr val="accent6"/>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8962116489397413"/>
          <c:y val="0.1323861379029749"/>
          <c:w val="0.77272358464327162"/>
          <c:h val="0.81441256013211116"/>
        </c:manualLayout>
      </c:layout>
      <c:barChart>
        <c:barDir val="bar"/>
        <c:grouping val="clustered"/>
        <c:varyColors val="0"/>
        <c:ser>
          <c:idx val="0"/>
          <c:order val="0"/>
          <c:tx>
            <c:strRef>
              <c:f>'Total sales -Time buckets '!$B$3:$B$4</c:f>
              <c:strCache>
                <c:ptCount val="1"/>
                <c:pt idx="0">
                  <c:v>Astoria</c:v>
                </c:pt>
              </c:strCache>
            </c:strRef>
          </c:tx>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'Total sales -Time buckets '!$A$5:$A$8</c:f>
              <c:strCache>
                <c:ptCount val="3"/>
                <c:pt idx="0">
                  <c:v>01.Morning</c:v>
                </c:pt>
                <c:pt idx="1">
                  <c:v>02.Afternoon</c:v>
                </c:pt>
                <c:pt idx="2">
                  <c:v>03.Evening</c:v>
                </c:pt>
              </c:strCache>
            </c:strRef>
          </c:cat>
          <c:val>
            <c:numRef>
              <c:f>'Total sales -Time buckets '!$B$5:$B$8</c:f>
              <c:numCache>
                <c:formatCode>_("$"* #,##0.00_);_("$"* \(#,##0.00\);_("$"* "-"??_);_(@_)</c:formatCode>
                <c:ptCount val="3"/>
                <c:pt idx="0">
                  <c:v>104942.51999999984</c:v>
                </c:pt>
                <c:pt idx="1">
                  <c:v>78567.13999999917</c:v>
                </c:pt>
                <c:pt idx="2">
                  <c:v>48734.249999999694</c:v>
                </c:pt>
              </c:numCache>
            </c:numRef>
          </c:val>
          <c:extLst>
            <c:ext xmlns:c16="http://schemas.microsoft.com/office/drawing/2014/chart" uri="{C3380CC4-5D6E-409C-BE32-E72D297353CC}">
              <c16:uniqueId val="{00000000-1DB4-0C43-BC45-A465CEC6EAC2}"/>
            </c:ext>
          </c:extLst>
        </c:ser>
        <c:ser>
          <c:idx val="1"/>
          <c:order val="1"/>
          <c:tx>
            <c:strRef>
              <c:f>'Total sales -Time buckets '!$C$3:$C$4</c:f>
              <c:strCache>
                <c:ptCount val="1"/>
                <c:pt idx="0">
                  <c:v>Hell's Kitchen</c:v>
                </c:pt>
              </c:strCache>
            </c:strRef>
          </c:tx>
          <c:spPr>
            <a:gradFill rotWithShape="1">
              <a:gsLst>
                <a:gs pos="0">
                  <a:schemeClr val="accent4">
                    <a:tint val="94000"/>
                    <a:satMod val="103000"/>
                    <a:lumMod val="102000"/>
                  </a:schemeClr>
                </a:gs>
                <a:gs pos="50000">
                  <a:schemeClr val="accent4">
                    <a:shade val="100000"/>
                    <a:satMod val="110000"/>
                    <a:lumMod val="100000"/>
                  </a:schemeClr>
                </a:gs>
                <a:gs pos="100000">
                  <a:schemeClr val="accent4">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'Total sales -Time buckets '!$A$5:$A$8</c:f>
              <c:strCache>
                <c:ptCount val="3"/>
                <c:pt idx="0">
                  <c:v>01.Morning</c:v>
                </c:pt>
                <c:pt idx="1">
                  <c:v>02.Afternoon</c:v>
                </c:pt>
                <c:pt idx="2">
                  <c:v>03.Evening</c:v>
                </c:pt>
              </c:strCache>
            </c:strRef>
          </c:cat>
          <c:val>
            <c:numRef>
              <c:f>'Total sales -Time buckets '!$C$5:$C$8</c:f>
              <c:numCache>
                <c:formatCode>_("$"* #,##0.00_);_("$"* \(#,##0.00\);_("$"* "-"??_);_(@_)</c:formatCode>
                <c:ptCount val="3"/>
                <c:pt idx="0">
                  <c:v>139443.30000000246</c:v>
                </c:pt>
                <c:pt idx="1">
                  <c:v>59012.429999999389</c:v>
                </c:pt>
                <c:pt idx="2">
                  <c:v>38055.439999999791</c:v>
                </c:pt>
              </c:numCache>
            </c:numRef>
          </c:val>
          <c:extLst>
            <c:ext xmlns:c16="http://schemas.microsoft.com/office/drawing/2014/chart" uri="{C3380CC4-5D6E-409C-BE32-E72D297353CC}">
              <c16:uniqueId val="{00000001-1DB4-0C43-BC45-A465CEC6EAC2}"/>
            </c:ext>
          </c:extLst>
        </c:ser>
        <c:ser>
          <c:idx val="2"/>
          <c:order val="2"/>
          <c:tx>
            <c:strRef>
              <c:f>'Total sales -Time buckets '!$D$3:$D$4</c:f>
              <c:strCache>
                <c:ptCount val="1"/>
                <c:pt idx="0">
                  <c:v>Lower Manhattan</c:v>
                </c:pt>
              </c:strCache>
            </c:strRef>
          </c:tx>
          <c:spPr>
            <a:gradFill rotWithShape="1">
              <a:gsLst>
                <a:gs pos="0">
                  <a:schemeClr val="accent6">
                    <a:tint val="94000"/>
                    <a:satMod val="103000"/>
                    <a:lumMod val="102000"/>
                  </a:schemeClr>
                </a:gs>
                <a:gs pos="50000">
                  <a:schemeClr val="accent6">
                    <a:shade val="100000"/>
                    <a:satMod val="110000"/>
                    <a:lumMod val="100000"/>
                  </a:schemeClr>
                </a:gs>
                <a:gs pos="100000">
                  <a:schemeClr val="accent6">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'Total sales -Time buckets '!$A$5:$A$8</c:f>
              <c:strCache>
                <c:ptCount val="3"/>
                <c:pt idx="0">
                  <c:v>01.Morning</c:v>
                </c:pt>
                <c:pt idx="1">
                  <c:v>02.Afternoon</c:v>
                </c:pt>
                <c:pt idx="2">
                  <c:v>03.Evening</c:v>
                </c:pt>
              </c:strCache>
            </c:strRef>
          </c:cat>
          <c:val>
            <c:numRef>
              <c:f>'Total sales -Time buckets '!$D$5:$D$8</c:f>
              <c:numCache>
                <c:formatCode>_("$"* #,##0.00_);_("$"* \(#,##0.00\);_("$"* "-"??_);_(@_)</c:formatCode>
                <c:ptCount val="3"/>
                <c:pt idx="0">
                  <c:v>143902.85000000257</c:v>
                </c:pt>
                <c:pt idx="1">
                  <c:v>67141.259999999413</c:v>
                </c:pt>
                <c:pt idx="2">
                  <c:v>19013.140000000043</c:v>
                </c:pt>
              </c:numCache>
            </c:numRef>
          </c:val>
          <c:extLst>
            <c:ext xmlns:c16="http://schemas.microsoft.com/office/drawing/2014/chart" uri="{C3380CC4-5D6E-409C-BE32-E72D297353CC}">
              <c16:uniqueId val="{00000002-1DB4-0C43-BC45-A465CEC6EAC2}"/>
            </c:ext>
          </c:extLst>
        </c:ser>
        <c:dLbls>
          <c:dLblPos val="inEnd"/>
          <c:showLegendKey val="0"/>
          <c:showVal val="1"/>
          <c:showCatName val="0"/>
          <c:showSerName val="0"/>
          <c:showPercent val="0"/>
          <c:showBubbleSize val="0"/>
        </c:dLbls>
        <c:gapWidth val="115"/>
        <c:overlap val="-20"/>
        <c:axId val="1841675280"/>
        <c:axId val="1841676992"/>
      </c:barChart>
      <c:catAx>
        <c:axId val="1841675280"/>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841676992"/>
        <c:crosses val="autoZero"/>
        <c:auto val="1"/>
        <c:lblAlgn val="ctr"/>
        <c:lblOffset val="100"/>
        <c:noMultiLvlLbl val="0"/>
      </c:catAx>
      <c:valAx>
        <c:axId val="1841676992"/>
        <c:scaling>
          <c:orientation val="minMax"/>
        </c:scaling>
        <c:delete val="0"/>
        <c:axPos val="b"/>
        <c:majorGridlines>
          <c:spPr>
            <a:ln w="9525" cap="flat" cmpd="sng" algn="ctr">
              <a:solidFill>
                <a:schemeClr val="lt1">
                  <a:lumMod val="95000"/>
                  <a:alpha val="10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8416752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[highest -lowest performing product.xlsx]Total sales Vs P_c!PivotTable18</c:name>
    <c:fmtId val="11"/>
  </c:pivotSource>
  <c:chart>
    <c:autoTitleDeleted val="0"/>
    <c:pivotFmts>
      <c:pivotFmt>
        <c:idx val="0"/>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circle"/>
          <c:size val="6"/>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w="9525">
              <a:solidFill>
                <a:schemeClr val="accent1"/>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circle"/>
          <c:size val="6"/>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w="9525">
              <a:solidFill>
                <a:schemeClr val="accent2"/>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circle"/>
          <c:size val="6"/>
          <c:spPr>
            <a:gradFill rotWithShape="1">
              <a:gsLst>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lin ang="5400000" scaled="0"/>
            </a:gradFill>
            <a:ln w="9525">
              <a:solidFill>
                <a:schemeClr val="accent3"/>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'Total sales Vs P_c'!$B$3:$B$4</c:f>
              <c:strCache>
                <c:ptCount val="1"/>
                <c:pt idx="0">
                  <c:v>Astoria</c:v>
                </c:pt>
              </c:strCache>
            </c:strRef>
          </c:tx>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invertIfNegative val="0"/>
          <c:cat>
            <c:multiLvlStrRef>
              <c:f>'Total sales Vs P_c'!$A$5:$A$35</c:f>
              <c:multiLvlStrCache>
                <c:ptCount val="27"/>
                <c:lvl>
                  <c:pt idx="0">
                    <c:v>Bakery</c:v>
                  </c:pt>
                  <c:pt idx="1">
                    <c:v>Branded</c:v>
                  </c:pt>
                  <c:pt idx="2">
                    <c:v>Coffee</c:v>
                  </c:pt>
                  <c:pt idx="3">
                    <c:v>Coffee beans</c:v>
                  </c:pt>
                  <c:pt idx="4">
                    <c:v>Drinking Chocolate</c:v>
                  </c:pt>
                  <c:pt idx="5">
                    <c:v>Flavours</c:v>
                  </c:pt>
                  <c:pt idx="6">
                    <c:v>Loose Tea</c:v>
                  </c:pt>
                  <c:pt idx="7">
                    <c:v>Packaged Chocolate</c:v>
                  </c:pt>
                  <c:pt idx="8">
                    <c:v>Tea</c:v>
                  </c:pt>
                  <c:pt idx="9">
                    <c:v>Bakery</c:v>
                  </c:pt>
                  <c:pt idx="10">
                    <c:v>Branded</c:v>
                  </c:pt>
                  <c:pt idx="11">
                    <c:v>Coffee</c:v>
                  </c:pt>
                  <c:pt idx="12">
                    <c:v>Coffee beans</c:v>
                  </c:pt>
                  <c:pt idx="13">
                    <c:v>Drinking Chocolate</c:v>
                  </c:pt>
                  <c:pt idx="14">
                    <c:v>Flavours</c:v>
                  </c:pt>
                  <c:pt idx="15">
                    <c:v>Loose Tea</c:v>
                  </c:pt>
                  <c:pt idx="16">
                    <c:v>Packaged Chocolate</c:v>
                  </c:pt>
                  <c:pt idx="17">
                    <c:v>Tea</c:v>
                  </c:pt>
                  <c:pt idx="18">
                    <c:v>Bakery</c:v>
                  </c:pt>
                  <c:pt idx="19">
                    <c:v>Branded</c:v>
                  </c:pt>
                  <c:pt idx="20">
                    <c:v>Coffee</c:v>
                  </c:pt>
                  <c:pt idx="21">
                    <c:v>Coffee beans</c:v>
                  </c:pt>
                  <c:pt idx="22">
                    <c:v>Drinking Chocolate</c:v>
                  </c:pt>
                  <c:pt idx="23">
                    <c:v>Flavours</c:v>
                  </c:pt>
                  <c:pt idx="24">
                    <c:v>Loose Tea</c:v>
                  </c:pt>
                  <c:pt idx="25">
                    <c:v>Packaged Chocolate</c:v>
                  </c:pt>
                  <c:pt idx="26">
                    <c:v>Tea</c:v>
                  </c:pt>
                </c:lvl>
                <c:lvl>
                  <c:pt idx="0">
                    <c:v>01.Morning</c:v>
                  </c:pt>
                  <c:pt idx="9">
                    <c:v>02.Afternoon</c:v>
                  </c:pt>
                  <c:pt idx="18">
                    <c:v>03.Evening</c:v>
                  </c:pt>
                </c:lvl>
              </c:multiLvlStrCache>
            </c:multiLvlStrRef>
          </c:cat>
          <c:val>
            <c:numRef>
              <c:f>'Total sales Vs P_c'!$B$5:$B$35</c:f>
              <c:numCache>
                <c:formatCode>"$"#,##0.00</c:formatCode>
                <c:ptCount val="27"/>
                <c:pt idx="0">
                  <c:v>12270.25</c:v>
                </c:pt>
                <c:pt idx="1">
                  <c:v>3002</c:v>
                </c:pt>
                <c:pt idx="2">
                  <c:v>40006.600000000231</c:v>
                </c:pt>
                <c:pt idx="3">
                  <c:v>5702.8999999999978</c:v>
                </c:pt>
                <c:pt idx="4">
                  <c:v>11045.75</c:v>
                </c:pt>
                <c:pt idx="5">
                  <c:v>1279.9999999999836</c:v>
                </c:pt>
                <c:pt idx="6">
                  <c:v>1869.3000000000043</c:v>
                </c:pt>
                <c:pt idx="7">
                  <c:v>729.62000000000046</c:v>
                </c:pt>
                <c:pt idx="8">
                  <c:v>29036.099999999748</c:v>
                </c:pt>
                <c:pt idx="9">
                  <c:v>8980.25</c:v>
                </c:pt>
                <c:pt idx="10">
                  <c:v>1453</c:v>
                </c:pt>
                <c:pt idx="11">
                  <c:v>31245.000000000517</c:v>
                </c:pt>
                <c:pt idx="12">
                  <c:v>2179.7000000000003</c:v>
                </c:pt>
                <c:pt idx="13">
                  <c:v>9260.25</c:v>
                </c:pt>
                <c:pt idx="14">
                  <c:v>297.6000000000007</c:v>
                </c:pt>
                <c:pt idx="15">
                  <c:v>720.05000000000052</c:v>
                </c:pt>
                <c:pt idx="16">
                  <c:v>194.24</c:v>
                </c:pt>
                <c:pt idx="17">
                  <c:v>24237.049999999894</c:v>
                </c:pt>
                <c:pt idx="18">
                  <c:v>5349.25</c:v>
                </c:pt>
                <c:pt idx="19">
                  <c:v>1002</c:v>
                </c:pt>
                <c:pt idx="20">
                  <c:v>18492.700000000132</c:v>
                </c:pt>
                <c:pt idx="21">
                  <c:v>2336.6000000000004</c:v>
                </c:pt>
                <c:pt idx="22">
                  <c:v>6029.25</c:v>
                </c:pt>
                <c:pt idx="23">
                  <c:v>187.1999999999999</c:v>
                </c:pt>
                <c:pt idx="24">
                  <c:v>604.65000000000009</c:v>
                </c:pt>
                <c:pt idx="25">
                  <c:v>165.85000000000002</c:v>
                </c:pt>
                <c:pt idx="26">
                  <c:v>14566.750000000056</c:v>
                </c:pt>
              </c:numCache>
            </c:numRef>
          </c:val>
          <c:extLst>
            <c:ext xmlns:c16="http://schemas.microsoft.com/office/drawing/2014/chart" uri="{C3380CC4-5D6E-409C-BE32-E72D297353CC}">
              <c16:uniqueId val="{00000000-3547-7F4E-A24A-D38458D7EF4E}"/>
            </c:ext>
          </c:extLst>
        </c:ser>
        <c:ser>
          <c:idx val="1"/>
          <c:order val="1"/>
          <c:tx>
            <c:strRef>
              <c:f>'Total sales Vs P_c'!$C$3:$C$4</c:f>
              <c:strCache>
                <c:ptCount val="1"/>
                <c:pt idx="0">
                  <c:v>Hell's Kitchen</c:v>
                </c:pt>
              </c:strCache>
            </c:strRef>
          </c:tx>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invertIfNegative val="0"/>
          <c:cat>
            <c:multiLvlStrRef>
              <c:f>'Total sales Vs P_c'!$A$5:$A$35</c:f>
              <c:multiLvlStrCache>
                <c:ptCount val="27"/>
                <c:lvl>
                  <c:pt idx="0">
                    <c:v>Bakery</c:v>
                  </c:pt>
                  <c:pt idx="1">
                    <c:v>Branded</c:v>
                  </c:pt>
                  <c:pt idx="2">
                    <c:v>Coffee</c:v>
                  </c:pt>
                  <c:pt idx="3">
                    <c:v>Coffee beans</c:v>
                  </c:pt>
                  <c:pt idx="4">
                    <c:v>Drinking Chocolate</c:v>
                  </c:pt>
                  <c:pt idx="5">
                    <c:v>Flavours</c:v>
                  </c:pt>
                  <c:pt idx="6">
                    <c:v>Loose Tea</c:v>
                  </c:pt>
                  <c:pt idx="7">
                    <c:v>Packaged Chocolate</c:v>
                  </c:pt>
                  <c:pt idx="8">
                    <c:v>Tea</c:v>
                  </c:pt>
                  <c:pt idx="9">
                    <c:v>Bakery</c:v>
                  </c:pt>
                  <c:pt idx="10">
                    <c:v>Branded</c:v>
                  </c:pt>
                  <c:pt idx="11">
                    <c:v>Coffee</c:v>
                  </c:pt>
                  <c:pt idx="12">
                    <c:v>Coffee beans</c:v>
                  </c:pt>
                  <c:pt idx="13">
                    <c:v>Drinking Chocolate</c:v>
                  </c:pt>
                  <c:pt idx="14">
                    <c:v>Flavours</c:v>
                  </c:pt>
                  <c:pt idx="15">
                    <c:v>Loose Tea</c:v>
                  </c:pt>
                  <c:pt idx="16">
                    <c:v>Packaged Chocolate</c:v>
                  </c:pt>
                  <c:pt idx="17">
                    <c:v>Tea</c:v>
                  </c:pt>
                  <c:pt idx="18">
                    <c:v>Bakery</c:v>
                  </c:pt>
                  <c:pt idx="19">
                    <c:v>Branded</c:v>
                  </c:pt>
                  <c:pt idx="20">
                    <c:v>Coffee</c:v>
                  </c:pt>
                  <c:pt idx="21">
                    <c:v>Coffee beans</c:v>
                  </c:pt>
                  <c:pt idx="22">
                    <c:v>Drinking Chocolate</c:v>
                  </c:pt>
                  <c:pt idx="23">
                    <c:v>Flavours</c:v>
                  </c:pt>
                  <c:pt idx="24">
                    <c:v>Loose Tea</c:v>
                  </c:pt>
                  <c:pt idx="25">
                    <c:v>Packaged Chocolate</c:v>
                  </c:pt>
                  <c:pt idx="26">
                    <c:v>Tea</c:v>
                  </c:pt>
                </c:lvl>
                <c:lvl>
                  <c:pt idx="0">
                    <c:v>01.Morning</c:v>
                  </c:pt>
                  <c:pt idx="9">
                    <c:v>02.Afternoon</c:v>
                  </c:pt>
                  <c:pt idx="18">
                    <c:v>03.Evening</c:v>
                  </c:pt>
                </c:lvl>
              </c:multiLvlStrCache>
            </c:multiLvlStrRef>
          </c:cat>
          <c:val>
            <c:numRef>
              <c:f>'Total sales Vs P_c'!$C$5:$C$35</c:f>
              <c:numCache>
                <c:formatCode>"$"#,##0.00</c:formatCode>
                <c:ptCount val="27"/>
                <c:pt idx="0">
                  <c:v>18016.25</c:v>
                </c:pt>
                <c:pt idx="1">
                  <c:v>1464</c:v>
                </c:pt>
                <c:pt idx="2">
                  <c:v>50631.749999999578</c:v>
                </c:pt>
                <c:pt idx="3">
                  <c:v>14592.000000000009</c:v>
                </c:pt>
                <c:pt idx="4">
                  <c:v>12776.5</c:v>
                </c:pt>
                <c:pt idx="5">
                  <c:v>1923.1999999999471</c:v>
                </c:pt>
                <c:pt idx="6">
                  <c:v>3111.2499999999895</c:v>
                </c:pt>
                <c:pt idx="7">
                  <c:v>1095.900000000001</c:v>
                </c:pt>
                <c:pt idx="8">
                  <c:v>35832.449999999728</c:v>
                </c:pt>
                <c:pt idx="9">
                  <c:v>5651.3</c:v>
                </c:pt>
                <c:pt idx="10">
                  <c:v>296</c:v>
                </c:pt>
                <c:pt idx="11">
                  <c:v>25000.3500000003</c:v>
                </c:pt>
                <c:pt idx="12">
                  <c:v>2653.0499999999997</c:v>
                </c:pt>
                <c:pt idx="13">
                  <c:v>6594.25</c:v>
                </c:pt>
                <c:pt idx="14">
                  <c:v>555.20000000000323</c:v>
                </c:pt>
                <c:pt idx="15">
                  <c:v>826.60000000000082</c:v>
                </c:pt>
                <c:pt idx="16">
                  <c:v>334.63000000000005</c:v>
                </c:pt>
                <c:pt idx="17">
                  <c:v>17101.050000000036</c:v>
                </c:pt>
                <c:pt idx="18">
                  <c:v>3719.4</c:v>
                </c:pt>
                <c:pt idx="19">
                  <c:v>182</c:v>
                </c:pt>
                <c:pt idx="20">
                  <c:v>15590.550000000041</c:v>
                </c:pt>
                <c:pt idx="21">
                  <c:v>1390.0500000000002</c:v>
                </c:pt>
                <c:pt idx="22">
                  <c:v>4215.5</c:v>
                </c:pt>
                <c:pt idx="23">
                  <c:v>398.40000000000191</c:v>
                </c:pt>
                <c:pt idx="24">
                  <c:v>523.49999999999966</c:v>
                </c:pt>
                <c:pt idx="25">
                  <c:v>268.24</c:v>
                </c:pt>
                <c:pt idx="26">
                  <c:v>11767.800000000036</c:v>
                </c:pt>
              </c:numCache>
            </c:numRef>
          </c:val>
          <c:extLst>
            <c:ext xmlns:c16="http://schemas.microsoft.com/office/drawing/2014/chart" uri="{C3380CC4-5D6E-409C-BE32-E72D297353CC}">
              <c16:uniqueId val="{00000001-3547-7F4E-A24A-D38458D7EF4E}"/>
            </c:ext>
          </c:extLst>
        </c:ser>
        <c:ser>
          <c:idx val="2"/>
          <c:order val="2"/>
          <c:tx>
            <c:strRef>
              <c:f>'Total sales Vs P_c'!$D$3:$D$4</c:f>
              <c:strCache>
                <c:ptCount val="1"/>
                <c:pt idx="0">
                  <c:v>Lower Manhattan</c:v>
                </c:pt>
              </c:strCache>
            </c:strRef>
          </c:tx>
          <c:spPr>
            <a:gradFill rotWithShape="1">
              <a:gsLst>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invertIfNegative val="0"/>
          <c:cat>
            <c:multiLvlStrRef>
              <c:f>'Total sales Vs P_c'!$A$5:$A$35</c:f>
              <c:multiLvlStrCache>
                <c:ptCount val="27"/>
                <c:lvl>
                  <c:pt idx="0">
                    <c:v>Bakery</c:v>
                  </c:pt>
                  <c:pt idx="1">
                    <c:v>Branded</c:v>
                  </c:pt>
                  <c:pt idx="2">
                    <c:v>Coffee</c:v>
                  </c:pt>
                  <c:pt idx="3">
                    <c:v>Coffee beans</c:v>
                  </c:pt>
                  <c:pt idx="4">
                    <c:v>Drinking Chocolate</c:v>
                  </c:pt>
                  <c:pt idx="5">
                    <c:v>Flavours</c:v>
                  </c:pt>
                  <c:pt idx="6">
                    <c:v>Loose Tea</c:v>
                  </c:pt>
                  <c:pt idx="7">
                    <c:v>Packaged Chocolate</c:v>
                  </c:pt>
                  <c:pt idx="8">
                    <c:v>Tea</c:v>
                  </c:pt>
                  <c:pt idx="9">
                    <c:v>Bakery</c:v>
                  </c:pt>
                  <c:pt idx="10">
                    <c:v>Branded</c:v>
                  </c:pt>
                  <c:pt idx="11">
                    <c:v>Coffee</c:v>
                  </c:pt>
                  <c:pt idx="12">
                    <c:v>Coffee beans</c:v>
                  </c:pt>
                  <c:pt idx="13">
                    <c:v>Drinking Chocolate</c:v>
                  </c:pt>
                  <c:pt idx="14">
                    <c:v>Flavours</c:v>
                  </c:pt>
                  <c:pt idx="15">
                    <c:v>Loose Tea</c:v>
                  </c:pt>
                  <c:pt idx="16">
                    <c:v>Packaged Chocolate</c:v>
                  </c:pt>
                  <c:pt idx="17">
                    <c:v>Tea</c:v>
                  </c:pt>
                  <c:pt idx="18">
                    <c:v>Bakery</c:v>
                  </c:pt>
                  <c:pt idx="19">
                    <c:v>Branded</c:v>
                  </c:pt>
                  <c:pt idx="20">
                    <c:v>Coffee</c:v>
                  </c:pt>
                  <c:pt idx="21">
                    <c:v>Coffee beans</c:v>
                  </c:pt>
                  <c:pt idx="22">
                    <c:v>Drinking Chocolate</c:v>
                  </c:pt>
                  <c:pt idx="23">
                    <c:v>Flavours</c:v>
                  </c:pt>
                  <c:pt idx="24">
                    <c:v>Loose Tea</c:v>
                  </c:pt>
                  <c:pt idx="25">
                    <c:v>Packaged Chocolate</c:v>
                  </c:pt>
                  <c:pt idx="26">
                    <c:v>Tea</c:v>
                  </c:pt>
                </c:lvl>
                <c:lvl>
                  <c:pt idx="0">
                    <c:v>01.Morning</c:v>
                  </c:pt>
                  <c:pt idx="9">
                    <c:v>02.Afternoon</c:v>
                  </c:pt>
                  <c:pt idx="18">
                    <c:v>03.Evening</c:v>
                  </c:pt>
                </c:lvl>
              </c:multiLvlStrCache>
            </c:multiLvlStrRef>
          </c:cat>
          <c:val>
            <c:numRef>
              <c:f>'Total sales Vs P_c'!$D$5:$D$35</c:f>
              <c:numCache>
                <c:formatCode>"$"#,##0.00</c:formatCode>
                <c:ptCount val="27"/>
                <c:pt idx="0">
                  <c:v>17876.199999999975</c:v>
                </c:pt>
                <c:pt idx="1">
                  <c:v>4104</c:v>
                </c:pt>
                <c:pt idx="2">
                  <c:v>53833.449999999539</c:v>
                </c:pt>
                <c:pt idx="3">
                  <c:v>7883.6499999999978</c:v>
                </c:pt>
                <c:pt idx="4">
                  <c:v>14333.25</c:v>
                </c:pt>
                <c:pt idx="5">
                  <c:v>2573.5999999999613</c:v>
                </c:pt>
                <c:pt idx="6">
                  <c:v>2405.3500000000004</c:v>
                </c:pt>
                <c:pt idx="7">
                  <c:v>1151.45</c:v>
                </c:pt>
                <c:pt idx="8">
                  <c:v>39741.899999999761</c:v>
                </c:pt>
                <c:pt idx="9">
                  <c:v>8111.5499999999993</c:v>
                </c:pt>
                <c:pt idx="10">
                  <c:v>1620</c:v>
                </c:pt>
                <c:pt idx="11">
                  <c:v>26862.45000000027</c:v>
                </c:pt>
                <c:pt idx="12">
                  <c:v>3047.95</c:v>
                </c:pt>
                <c:pt idx="13">
                  <c:v>6465.5</c:v>
                </c:pt>
                <c:pt idx="14">
                  <c:v>883.19999999999891</c:v>
                </c:pt>
                <c:pt idx="15">
                  <c:v>878.30000000000098</c:v>
                </c:pt>
                <c:pt idx="16">
                  <c:v>399.31000000000012</c:v>
                </c:pt>
                <c:pt idx="17">
                  <c:v>18873.000000000004</c:v>
                </c:pt>
                <c:pt idx="18">
                  <c:v>2341.19</c:v>
                </c:pt>
                <c:pt idx="19">
                  <c:v>484</c:v>
                </c:pt>
                <c:pt idx="20">
                  <c:v>8289.5999999999694</c:v>
                </c:pt>
                <c:pt idx="21">
                  <c:v>299.34999999999997</c:v>
                </c:pt>
                <c:pt idx="22">
                  <c:v>1695.75</c:v>
                </c:pt>
                <c:pt idx="23">
                  <c:v>310.40000000000055</c:v>
                </c:pt>
                <c:pt idx="24">
                  <c:v>274.59999999999991</c:v>
                </c:pt>
                <c:pt idx="25">
                  <c:v>68.400000000000006</c:v>
                </c:pt>
                <c:pt idx="26">
                  <c:v>5249.85</c:v>
                </c:pt>
              </c:numCache>
            </c:numRef>
          </c:val>
          <c:extLst>
            <c:ext xmlns:c16="http://schemas.microsoft.com/office/drawing/2014/chart" uri="{C3380CC4-5D6E-409C-BE32-E72D297353CC}">
              <c16:uniqueId val="{00000002-3547-7F4E-A24A-D38458D7EF4E}"/>
            </c:ext>
          </c:extLst>
        </c:ser>
        <c:dLbls>
          <c:showLegendKey val="0"/>
          <c:showVal val="0"/>
          <c:showCatName val="0"/>
          <c:showSerName val="0"/>
          <c:showPercent val="0"/>
          <c:showBubbleSize val="0"/>
        </c:dLbls>
        <c:gapWidth val="150"/>
        <c:shape val="box"/>
        <c:axId val="94971903"/>
        <c:axId val="1980745791"/>
        <c:axId val="0"/>
      </c:bar3DChart>
      <c:catAx>
        <c:axId val="9497190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80745791"/>
        <c:crosses val="autoZero"/>
        <c:auto val="1"/>
        <c:lblAlgn val="ctr"/>
        <c:lblOffset val="100"/>
        <c:noMultiLvlLbl val="0"/>
      </c:catAx>
      <c:valAx>
        <c:axId val="1980745791"/>
        <c:scaling>
          <c:orientation val="minMax"/>
        </c:scaling>
        <c:delete val="0"/>
        <c:axPos val="b"/>
        <c:majorGridlines>
          <c:spPr>
            <a:ln w="9525" cap="flat" cmpd="sng" algn="ctr">
              <a:solidFill>
                <a:schemeClr val="dk1">
                  <a:lumMod val="50000"/>
                  <a:lumOff val="50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9497190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[highest -lowest performing product.xlsx]Total sales and location!PivotTable11</c:name>
    <c:fmtId val="17"/>
  </c:pivotSource>
  <c:chart>
    <c:autoTitleDeleted val="1"/>
    <c:pivotFmts>
      <c:pivotFmt>
        <c:idx val="0"/>
        <c:spPr>
          <a:solidFill>
            <a:schemeClr val="accent1"/>
          </a:solidFill>
          <a:ln>
            <a:noFill/>
          </a:ln>
          <a:effectLst>
            <a:outerShdw blurRad="254000" sx="102000" sy="102000" algn="ctr" rotWithShape="0">
              <a:prstClr val="black">
                <a:alpha val="20000"/>
              </a:prstClr>
            </a:outerShdw>
          </a:effectLst>
          <a:sp3d/>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1"/>
          </a:solidFill>
          <a:ln>
            <a:noFill/>
          </a:ln>
          <a:effectLst>
            <a:outerShdw blurRad="254000" sx="102000" sy="102000" algn="ctr" rotWithShape="0">
              <a:prstClr val="black">
                <a:alpha val="20000"/>
              </a:prstClr>
            </a:outerShdw>
          </a:effectLst>
          <a:sp3d/>
        </c:spPr>
      </c:pivotFmt>
      <c:pivotFmt>
        <c:idx val="3"/>
        <c:spPr>
          <a:solidFill>
            <a:schemeClr val="accent1"/>
          </a:solidFill>
          <a:ln>
            <a:noFill/>
          </a:ln>
          <a:effectLst>
            <a:outerShdw blurRad="254000" sx="102000" sy="102000" algn="ctr" rotWithShape="0">
              <a:prstClr val="black">
                <a:alpha val="20000"/>
              </a:prstClr>
            </a:outerShdw>
          </a:effectLst>
          <a:sp3d/>
        </c:spPr>
      </c:pivotFmt>
      <c:pivotFmt>
        <c:idx val="4"/>
        <c:spPr>
          <a:solidFill>
            <a:schemeClr val="accent1"/>
          </a:solidFill>
          <a:ln>
            <a:noFill/>
          </a:ln>
          <a:effectLst>
            <a:outerShdw blurRad="254000" sx="102000" sy="102000" algn="ctr" rotWithShape="0">
              <a:prstClr val="black">
                <a:alpha val="20000"/>
              </a:prstClr>
            </a:outerShdw>
          </a:effectLst>
          <a:sp3d/>
        </c:spPr>
      </c:pivotFmt>
      <c:pivotFmt>
        <c:idx val="5"/>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6"/>
        <c:spPr>
          <a:solidFill>
            <a:schemeClr val="accent1"/>
          </a:solidFill>
          <a:ln>
            <a:noFill/>
          </a:ln>
          <a:effectLst>
            <a:outerShdw blurRad="254000" sx="102000" sy="102000" algn="ctr" rotWithShape="0">
              <a:prstClr val="black">
                <a:alpha val="20000"/>
              </a:prstClr>
            </a:outerShdw>
          </a:effectLst>
          <a:sp3d/>
        </c:spPr>
      </c:pivotFmt>
      <c:pivotFmt>
        <c:idx val="7"/>
        <c:spPr>
          <a:solidFill>
            <a:schemeClr val="accent1"/>
          </a:solidFill>
          <a:ln>
            <a:noFill/>
          </a:ln>
          <a:effectLst>
            <a:outerShdw blurRad="254000" sx="102000" sy="102000" algn="ctr" rotWithShape="0">
              <a:prstClr val="black">
                <a:alpha val="20000"/>
              </a:prstClr>
            </a:outerShdw>
          </a:effectLst>
          <a:sp3d/>
        </c:spPr>
      </c:pivotFmt>
      <c:pivotFmt>
        <c:idx val="8"/>
        <c:spPr>
          <a:solidFill>
            <a:schemeClr val="accent1"/>
          </a:solidFill>
          <a:ln>
            <a:noFill/>
          </a:ln>
          <a:effectLst>
            <a:outerShdw blurRad="254000" sx="102000" sy="102000" algn="ctr" rotWithShape="0">
              <a:prstClr val="black">
                <a:alpha val="20000"/>
              </a:prstClr>
            </a:outerShdw>
          </a:effectLst>
          <a:sp3d/>
        </c:spPr>
      </c:pivotFmt>
      <c:pivotFmt>
        <c:idx val="9"/>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10"/>
        <c:spPr>
          <a:solidFill>
            <a:schemeClr val="accent1"/>
          </a:solidFill>
          <a:ln>
            <a:noFill/>
          </a:ln>
          <a:effectLst>
            <a:outerShdw blurRad="254000" sx="102000" sy="102000" algn="ctr" rotWithShape="0">
              <a:prstClr val="black">
                <a:alpha val="20000"/>
              </a:prstClr>
            </a:outerShdw>
          </a:effectLst>
          <a:sp3d/>
        </c:spPr>
      </c:pivotFmt>
      <c:pivotFmt>
        <c:idx val="11"/>
        <c:spPr>
          <a:solidFill>
            <a:schemeClr val="accent1"/>
          </a:solidFill>
          <a:ln>
            <a:noFill/>
          </a:ln>
          <a:effectLst>
            <a:outerShdw blurRad="254000" sx="102000" sy="102000" algn="ctr" rotWithShape="0">
              <a:prstClr val="black">
                <a:alpha val="20000"/>
              </a:prstClr>
            </a:outerShdw>
          </a:effectLst>
          <a:sp3d/>
        </c:spPr>
      </c:pivotFmt>
      <c:pivotFmt>
        <c:idx val="12"/>
        <c:spPr>
          <a:solidFill>
            <a:schemeClr val="accent1"/>
          </a:solidFill>
          <a:ln>
            <a:noFill/>
          </a:ln>
          <a:effectLst>
            <a:outerShdw blurRad="254000" sx="102000" sy="102000" algn="ctr" rotWithShape="0">
              <a:prstClr val="black">
                <a:alpha val="20000"/>
              </a:prstClr>
            </a:outerShdw>
          </a:effectLst>
          <a:sp3d/>
        </c:spPr>
      </c:pivotFmt>
    </c:pivotFmts>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6.9132540261438627E-2"/>
          <c:y val="7.096767022181219E-2"/>
          <c:w val="0.85542212024821396"/>
          <c:h val="0.92903225806451617"/>
        </c:manualLayout>
      </c:layout>
      <c:pie3DChart>
        <c:varyColors val="1"/>
        <c:ser>
          <c:idx val="0"/>
          <c:order val="0"/>
          <c:tx>
            <c:strRef>
              <c:f>'Total sales and location'!$B$3</c:f>
              <c:strCache>
                <c:ptCount val="1"/>
                <c:pt idx="0">
                  <c:v>Total</c:v>
                </c:pt>
              </c:strCache>
            </c:strRef>
          </c:tx>
          <c:dPt>
            <c:idx val="0"/>
            <c:bubble3D val="0"/>
            <c:spPr>
              <a:solidFill>
                <a:schemeClr val="accent1"/>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9-8194-D84C-B421-FBE556B13F2A}"/>
              </c:ext>
            </c:extLst>
          </c:dPt>
          <c:dPt>
            <c:idx val="1"/>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8-8194-D84C-B421-FBE556B13F2A}"/>
              </c:ext>
            </c:extLst>
          </c:dPt>
          <c:dPt>
            <c:idx val="2"/>
            <c:bubble3D val="0"/>
            <c:spPr>
              <a:solidFill>
                <a:schemeClr val="accent3"/>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A-8194-D84C-B421-FBE556B13F2A}"/>
              </c:ext>
            </c:extLst>
          </c:dPt>
          <c:dLbls>
            <c:dLbl>
              <c:idx val="0"/>
              <c:tx>
                <c:rich>
                  <a:bodyPr rot="0" spcFirstLastPara="1" vertOverflow="ellipsis" vert="horz" wrap="square" lIns="38100" tIns="19050" rIns="38100" bIns="19050" anchor="ctr" anchorCtr="1">
                    <a:noAutofit/>
                  </a:bodyPr>
                  <a:lstStyle/>
                  <a:p>
                    <a:pPr>
                      <a:defRPr sz="1000" b="1" i="0" u="none" strike="noStrike" kern="1200" baseline="0">
                        <a:solidFill>
                          <a:schemeClr val="lt1"/>
                        </a:solidFill>
                        <a:latin typeface="+mn-lt"/>
                        <a:ea typeface="+mn-ea"/>
                        <a:cs typeface="+mn-cs"/>
                      </a:defRPr>
                    </a:pPr>
                    <a:r>
                      <a:rPr lang="en-US" dirty="0"/>
                      <a:t> </a:t>
                    </a:r>
                    <a:r>
                      <a:rPr lang="en-US" sz="1800" dirty="0"/>
                      <a:t>Astoria </a:t>
                    </a:r>
                  </a:p>
                  <a:p>
                    <a:pPr>
                      <a:defRPr/>
                    </a:pPr>
                    <a:r>
                      <a:rPr lang="en-US" sz="1800" dirty="0"/>
                      <a:t>33.2%</a:t>
                    </a:r>
                    <a:endParaRPr lang="en-US" dirty="0"/>
                  </a:p>
                </c:rich>
              </c:tx>
              <c:spPr>
                <a:pattFill prst="pct75">
                  <a:fgClr>
                    <a:prstClr val="black">
                      <a:lumMod val="75000"/>
                      <a:lumOff val="25000"/>
                    </a:prstClr>
                  </a:fgClr>
                  <a:bgClr>
                    <a:prstClr val="black">
                      <a:lumMod val="65000"/>
                      <a:lumOff val="35000"/>
                    </a:prst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0"/>
              <c:showBubbleSize val="0"/>
              <c:extLst>
                <c:ext xmlns:c15="http://schemas.microsoft.com/office/drawing/2012/chart" uri="{CE6537A1-D6FC-4f65-9D91-7224C49458BB}">
                  <c15:layout>
                    <c:manualLayout>
                      <c:w val="0.16051346959535001"/>
                      <c:h val="0.15754694408361603"/>
                    </c:manualLayout>
                  </c15:layout>
                  <c15:showDataLabelsRange val="0"/>
                </c:ext>
                <c:ext xmlns:c16="http://schemas.microsoft.com/office/drawing/2014/chart" uri="{C3380CC4-5D6E-409C-BE32-E72D297353CC}">
                  <c16:uniqueId val="{00000009-8194-D84C-B421-FBE556B13F2A}"/>
                </c:ext>
              </c:extLst>
            </c:dLbl>
            <c:dLbl>
              <c:idx val="1"/>
              <c:tx>
                <c:rich>
                  <a:bodyPr rot="0" spcFirstLastPara="1" vertOverflow="ellipsis" vert="horz" wrap="square" lIns="38100" tIns="19050" rIns="38100" bIns="19050" anchor="ctr" anchorCtr="1">
                    <a:noAutofit/>
                  </a:bodyPr>
                  <a:lstStyle/>
                  <a:p>
                    <a:pPr>
                      <a:defRPr sz="1000" b="1" i="0" u="none" strike="noStrike" kern="1200" baseline="0">
                        <a:solidFill>
                          <a:schemeClr val="lt1"/>
                        </a:solidFill>
                        <a:latin typeface="+mn-lt"/>
                        <a:ea typeface="+mn-ea"/>
                        <a:cs typeface="+mn-cs"/>
                      </a:defRPr>
                    </a:pPr>
                    <a:fld id="{7427CA47-6C61-8F42-8DAE-A7FBFD7C9545}" type="CATEGORYNAME">
                      <a:rPr lang="en-US" sz="2400" smtClean="0"/>
                      <a:pPr>
                        <a:defRPr/>
                      </a:pPr>
                      <a:t>[CATEGORY NAME]</a:t>
                    </a:fld>
                    <a:endParaRPr lang="en-US" sz="2400" dirty="0"/>
                  </a:p>
                  <a:p>
                    <a:pPr>
                      <a:defRPr/>
                    </a:pPr>
                    <a:r>
                      <a:rPr lang="en-US" sz="2400" dirty="0"/>
                      <a:t>33.8%</a:t>
                    </a:r>
                  </a:p>
                </c:rich>
              </c:tx>
              <c:spPr>
                <a:pattFill prst="pct75">
                  <a:fgClr>
                    <a:prstClr val="black">
                      <a:lumMod val="75000"/>
                      <a:lumOff val="25000"/>
                    </a:prstClr>
                  </a:fgClr>
                  <a:bgClr>
                    <a:prstClr val="black">
                      <a:lumMod val="65000"/>
                      <a:lumOff val="35000"/>
                    </a:prst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0"/>
              <c:showBubbleSize val="0"/>
              <c:extLst>
                <c:ext xmlns:c15="http://schemas.microsoft.com/office/drawing/2012/chart" uri="{CE6537A1-D6FC-4f65-9D91-7224C49458BB}">
                  <c15:layout>
                    <c:manualLayout>
                      <c:w val="0.15261578185133975"/>
                      <c:h val="0.18380476809755206"/>
                    </c:manualLayout>
                  </c15:layout>
                  <c15:dlblFieldTable/>
                  <c15:showDataLabelsRange val="0"/>
                </c:ext>
                <c:ext xmlns:c16="http://schemas.microsoft.com/office/drawing/2014/chart" uri="{C3380CC4-5D6E-409C-BE32-E72D297353CC}">
                  <c16:uniqueId val="{00000008-8194-D84C-B421-FBE556B13F2A}"/>
                </c:ext>
              </c:extLst>
            </c:dLbl>
            <c:dLbl>
              <c:idx val="2"/>
              <c:layout>
                <c:manualLayout>
                  <c:x val="0.17972804846125473"/>
                  <c:y val="0.20328950200166568"/>
                </c:manualLayout>
              </c:layout>
              <c:tx>
                <c:rich>
                  <a:bodyPr rot="0" spcFirstLastPara="1" vertOverflow="ellipsis" vert="horz" wrap="square" lIns="38100" tIns="19050" rIns="38100" bIns="19050" anchor="ctr" anchorCtr="1">
                    <a:noAutofit/>
                  </a:bodyPr>
                  <a:lstStyle/>
                  <a:p>
                    <a:pPr>
                      <a:defRPr sz="1000" b="1" i="0" u="none" strike="noStrike" kern="1200" baseline="0">
                        <a:solidFill>
                          <a:schemeClr val="lt1"/>
                        </a:solidFill>
                        <a:latin typeface="+mn-lt"/>
                        <a:ea typeface="+mn-ea"/>
                        <a:cs typeface="+mn-cs"/>
                      </a:defRPr>
                    </a:pPr>
                    <a:fld id="{B4100496-AAFE-E846-B8C2-DD0BA3042D41}" type="CATEGORYNAME">
                      <a:rPr lang="en-US" sz="2000" smtClean="0"/>
                      <a:pPr>
                        <a:defRPr/>
                      </a:pPr>
                      <a:t>[CATEGORY NAME]</a:t>
                    </a:fld>
                    <a:endParaRPr lang="en-US" sz="2000" dirty="0"/>
                  </a:p>
                  <a:p>
                    <a:pPr>
                      <a:defRPr/>
                    </a:pPr>
                    <a:r>
                      <a:rPr lang="en-US" sz="2000" dirty="0"/>
                      <a:t>33.9%</a:t>
                    </a:r>
                  </a:p>
                </c:rich>
              </c:tx>
              <c:spPr>
                <a:pattFill prst="pct75">
                  <a:fgClr>
                    <a:prstClr val="black">
                      <a:lumMod val="75000"/>
                      <a:lumOff val="25000"/>
                    </a:prstClr>
                  </a:fgClr>
                  <a:bgClr>
                    <a:prstClr val="black">
                      <a:lumMod val="65000"/>
                      <a:lumOff val="35000"/>
                    </a:prst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layout>
                    <c:manualLayout>
                      <c:w val="0.15890658505714367"/>
                      <c:h val="0.22915919139435059"/>
                    </c:manualLayout>
                  </c15:layout>
                  <c15:dlblFieldTable/>
                  <c15:showDataLabelsRange val="0"/>
                </c:ext>
                <c:ext xmlns:c16="http://schemas.microsoft.com/office/drawing/2014/chart" uri="{C3380CC4-5D6E-409C-BE32-E72D297353CC}">
                  <c16:uniqueId val="{0000000A-8194-D84C-B421-FBE556B13F2A}"/>
                </c:ext>
              </c:extLst>
            </c:dLbl>
            <c:spPr>
              <a:pattFill prst="pct75">
                <a:fgClr>
                  <a:prstClr val="black">
                    <a:lumMod val="75000"/>
                    <a:lumOff val="25000"/>
                  </a:prstClr>
                </a:fgClr>
                <a:bgClr>
                  <a:prstClr val="black">
                    <a:lumMod val="65000"/>
                    <a:lumOff val="35000"/>
                  </a:prst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0"/>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'Total sales and location'!$A$4:$A$7</c:f>
              <c:strCache>
                <c:ptCount val="3"/>
                <c:pt idx="0">
                  <c:v>Astoria</c:v>
                </c:pt>
                <c:pt idx="1">
                  <c:v>Hell's Kitchen</c:v>
                </c:pt>
                <c:pt idx="2">
                  <c:v>Lower Manhattan</c:v>
                </c:pt>
              </c:strCache>
            </c:strRef>
          </c:cat>
          <c:val>
            <c:numRef>
              <c:f>'Total sales and location'!$B$4:$B$7</c:f>
              <c:numCache>
                <c:formatCode>General</c:formatCode>
                <c:ptCount val="3"/>
                <c:pt idx="0">
                  <c:v>232243.9100000097</c:v>
                </c:pt>
                <c:pt idx="1">
                  <c:v>236511.17000000965</c:v>
                </c:pt>
                <c:pt idx="2">
                  <c:v>230057.25000000748</c:v>
                </c:pt>
              </c:numCache>
            </c:numRef>
          </c:val>
          <c:extLst>
            <c:ext xmlns:c16="http://schemas.microsoft.com/office/drawing/2014/chart" uri="{C3380CC4-5D6E-409C-BE32-E72D297353CC}">
              <c16:uniqueId val="{00000007-8194-D84C-B421-FBE556B13F2A}"/>
            </c:ext>
          </c:extLst>
        </c:ser>
        <c:dLbls>
          <c:dLblPos val="ctr"/>
          <c:showLegendKey val="0"/>
          <c:showVal val="0"/>
          <c:showCatName val="1"/>
          <c:showSerName val="0"/>
          <c:showPercent val="0"/>
          <c:showBubbleSize val="0"/>
          <c:showLeaderLines val="1"/>
        </c:dLbls>
      </c:pie3D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[BrightCoffee_analysis-4.xlsx]Sheet1!PivotTable28</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3200" dirty="0">
                <a:solidFill>
                  <a:srgbClr val="FFFF00"/>
                </a:solidFill>
              </a:rPr>
              <a:t>Highest</a:t>
            </a:r>
            <a:r>
              <a:rPr lang="en-US" sz="3200" baseline="0" dirty="0">
                <a:solidFill>
                  <a:srgbClr val="FFFF00"/>
                </a:solidFill>
              </a:rPr>
              <a:t> Performing Product </a:t>
            </a:r>
            <a:endParaRPr lang="en-US" sz="3200" dirty="0">
              <a:solidFill>
                <a:srgbClr val="FFFF00"/>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w="19050">
            <a:solidFill>
              <a:schemeClr val="lt1"/>
            </a:solidFill>
          </a:ln>
          <a:effectLst/>
        </c:spPr>
      </c:pivotFmt>
      <c:pivotFmt>
        <c:idx val="3"/>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pivotFmt>
    </c:pivotFmts>
    <c:plotArea>
      <c:layout/>
      <c:pieChart>
        <c:varyColors val="1"/>
        <c:ser>
          <c:idx val="0"/>
          <c:order val="0"/>
          <c:tx>
            <c:strRef>
              <c:f>Sheet1!$B$3</c:f>
              <c:strCache>
                <c:ptCount val="1"/>
                <c:pt idx="0">
                  <c:v>Total</c:v>
                </c:pt>
              </c:strCache>
            </c:strRef>
          </c:tx>
          <c:dPt>
            <c:idx val="0"/>
            <c:bubble3D val="0"/>
            <c:spPr>
              <a:solidFill>
                <a:schemeClr val="accent6"/>
              </a:solidFill>
              <a:ln w="19050">
                <a:solidFill>
                  <a:schemeClr val="lt1"/>
                </a:solidFill>
              </a:ln>
              <a:effectLst/>
            </c:spPr>
            <c:extLst>
              <c:ext xmlns:c16="http://schemas.microsoft.com/office/drawing/2014/chart" uri="{C3380CC4-5D6E-409C-BE32-E72D297353CC}">
                <c16:uniqueId val="{00000001-04BF-9245-A93C-0EF6C377B8BE}"/>
              </c:ext>
            </c:extLst>
          </c:dPt>
          <c:cat>
            <c:multiLvlStrRef>
              <c:f>Sheet1!$A$4:$A$6</c:f>
              <c:multiLvlStrCache>
                <c:ptCount val="1"/>
                <c:lvl>
                  <c:pt idx="0">
                    <c:v>Drinking Chocolate</c:v>
                  </c:pt>
                </c:lvl>
                <c:lvl>
                  <c:pt idx="0">
                    <c:v>Hot chocolate</c:v>
                  </c:pt>
                </c:lvl>
              </c:multiLvlStrCache>
            </c:multiLvlStrRef>
          </c:cat>
          <c:val>
            <c:numRef>
              <c:f>Sheet1!$B$4:$B$6</c:f>
              <c:numCache>
                <c:formatCode>General</c:formatCode>
                <c:ptCount val="1"/>
                <c:pt idx="0">
                  <c:v>21151.75</c:v>
                </c:pt>
              </c:numCache>
            </c:numRef>
          </c:val>
          <c:extLst>
            <c:ext xmlns:c16="http://schemas.microsoft.com/office/drawing/2014/chart" uri="{C3380CC4-5D6E-409C-BE32-E72D297353CC}">
              <c16:uniqueId val="{00000002-04BF-9245-A93C-0EF6C377B8B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[highest -lowest performing product.xlsx]Sheet27!PivotTable41</c:name>
    <c:fmtId val="4"/>
  </c:pivotSource>
  <c:chart>
    <c:autoTitleDeleted val="0"/>
    <c:pivotFmts>
      <c:pivotFmt>
        <c:idx val="0"/>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circle"/>
          <c:size val="6"/>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w="9525">
              <a:solidFill>
                <a:schemeClr val="accent1"/>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circle"/>
          <c:size val="6"/>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w="9525">
              <a:solidFill>
                <a:schemeClr val="accent2"/>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circle"/>
          <c:size val="6"/>
          <c:spPr>
            <a:gradFill rotWithShape="1">
              <a:gsLst>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lin ang="5400000" scaled="0"/>
            </a:gradFill>
            <a:ln w="9525">
              <a:solidFill>
                <a:schemeClr val="accent3"/>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tx>
            <c:strRef>
              <c:f>Sheet27!$B$3:$B$4</c:f>
              <c:strCache>
                <c:ptCount val="1"/>
                <c:pt idx="0">
                  <c:v>Astoria</c:v>
                </c:pt>
              </c:strCache>
            </c:strRef>
          </c:tx>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Sheet27!$A$5:$A$9</c:f>
              <c:multiLvlStrCache>
                <c:ptCount val="2"/>
                <c:lvl>
                  <c:pt idx="0">
                    <c:v>Packaged Chocolate</c:v>
                  </c:pt>
                  <c:pt idx="1">
                    <c:v>Drinking Chocolate</c:v>
                  </c:pt>
                </c:lvl>
                <c:lvl>
                  <c:pt idx="0">
                    <c:v>Dark chocolate</c:v>
                  </c:pt>
                  <c:pt idx="1">
                    <c:v>Sustainably Grown Organic Lg</c:v>
                  </c:pt>
                </c:lvl>
              </c:multiLvlStrCache>
            </c:multiLvlStrRef>
          </c:cat>
          <c:val>
            <c:numRef>
              <c:f>Sheet27!$B$5:$B$9</c:f>
              <c:numCache>
                <c:formatCode>_("$"* #,##0.00_);_("$"* \(#,##0.00\);_("$"* "-"??_);_(@_)</c:formatCode>
                <c:ptCount val="2"/>
                <c:pt idx="0">
                  <c:v>83.2</c:v>
                </c:pt>
                <c:pt idx="1">
                  <c:v>7509.75</c:v>
                </c:pt>
              </c:numCache>
            </c:numRef>
          </c:val>
          <c:extLst>
            <c:ext xmlns:c16="http://schemas.microsoft.com/office/drawing/2014/chart" uri="{C3380CC4-5D6E-409C-BE32-E72D297353CC}">
              <c16:uniqueId val="{00000000-BC73-2849-821F-2BEC821A5975}"/>
            </c:ext>
          </c:extLst>
        </c:ser>
        <c:ser>
          <c:idx val="1"/>
          <c:order val="1"/>
          <c:tx>
            <c:strRef>
              <c:f>Sheet27!$C$3:$C$4</c:f>
              <c:strCache>
                <c:ptCount val="1"/>
                <c:pt idx="0">
                  <c:v>Hell's Kitchen</c:v>
                </c:pt>
              </c:strCache>
            </c:strRef>
          </c:tx>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Sheet27!$A$5:$A$9</c:f>
              <c:multiLvlStrCache>
                <c:ptCount val="2"/>
                <c:lvl>
                  <c:pt idx="0">
                    <c:v>Packaged Chocolate</c:v>
                  </c:pt>
                  <c:pt idx="1">
                    <c:v>Drinking Chocolate</c:v>
                  </c:pt>
                </c:lvl>
                <c:lvl>
                  <c:pt idx="0">
                    <c:v>Dark chocolate</c:v>
                  </c:pt>
                  <c:pt idx="1">
                    <c:v>Sustainably Grown Organic Lg</c:v>
                  </c:pt>
                </c:lvl>
              </c:multiLvlStrCache>
            </c:multiLvlStrRef>
          </c:cat>
          <c:val>
            <c:numRef>
              <c:f>Sheet27!$C$5:$C$9</c:f>
              <c:numCache>
                <c:formatCode>_("$"* #,##0.00_);_("$"* \(#,##0.00\);_("$"* "-"??_);_(@_)</c:formatCode>
                <c:ptCount val="2"/>
                <c:pt idx="0">
                  <c:v>422.39999999999952</c:v>
                </c:pt>
                <c:pt idx="1">
                  <c:v>7329.25</c:v>
                </c:pt>
              </c:numCache>
            </c:numRef>
          </c:val>
          <c:extLst>
            <c:ext xmlns:c16="http://schemas.microsoft.com/office/drawing/2014/chart" uri="{C3380CC4-5D6E-409C-BE32-E72D297353CC}">
              <c16:uniqueId val="{00000001-BC73-2849-821F-2BEC821A5975}"/>
            </c:ext>
          </c:extLst>
        </c:ser>
        <c:ser>
          <c:idx val="2"/>
          <c:order val="2"/>
          <c:tx>
            <c:strRef>
              <c:f>Sheet27!$D$3:$D$4</c:f>
              <c:strCache>
                <c:ptCount val="1"/>
                <c:pt idx="0">
                  <c:v>Lower Manhattan</c:v>
                </c:pt>
              </c:strCache>
            </c:strRef>
          </c:tx>
          <c:spPr>
            <a:gradFill rotWithShape="1">
              <a:gsLst>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Sheet27!$A$5:$A$9</c:f>
              <c:multiLvlStrCache>
                <c:ptCount val="2"/>
                <c:lvl>
                  <c:pt idx="0">
                    <c:v>Packaged Chocolate</c:v>
                  </c:pt>
                  <c:pt idx="1">
                    <c:v>Drinking Chocolate</c:v>
                  </c:pt>
                </c:lvl>
                <c:lvl>
                  <c:pt idx="0">
                    <c:v>Dark chocolate</c:v>
                  </c:pt>
                  <c:pt idx="1">
                    <c:v>Sustainably Grown Organic Lg</c:v>
                  </c:pt>
                </c:lvl>
              </c:multiLvlStrCache>
            </c:multiLvlStrRef>
          </c:cat>
          <c:val>
            <c:numRef>
              <c:f>Sheet27!$D$5:$D$9</c:f>
              <c:numCache>
                <c:formatCode>_("$"* #,##0.00_);_("$"* \(#,##0.00\);_("$"* "-"??_);_(@_)</c:formatCode>
                <c:ptCount val="2"/>
                <c:pt idx="0">
                  <c:v>249.60000000000014</c:v>
                </c:pt>
                <c:pt idx="1">
                  <c:v>6312.75</c:v>
                </c:pt>
              </c:numCache>
            </c:numRef>
          </c:val>
          <c:extLst>
            <c:ext xmlns:c16="http://schemas.microsoft.com/office/drawing/2014/chart" uri="{C3380CC4-5D6E-409C-BE32-E72D297353CC}">
              <c16:uniqueId val="{00000002-BC73-2849-821F-2BEC821A5975}"/>
            </c:ext>
          </c:extLst>
        </c:ser>
        <c:dLbls>
          <c:showLegendKey val="0"/>
          <c:showVal val="1"/>
          <c:showCatName val="0"/>
          <c:showSerName val="0"/>
          <c:showPercent val="0"/>
          <c:showBubbleSize val="0"/>
        </c:dLbls>
        <c:gapWidth val="150"/>
        <c:shape val="box"/>
        <c:axId val="1482816192"/>
        <c:axId val="56928928"/>
        <c:axId val="1764847632"/>
      </c:bar3DChart>
      <c:catAx>
        <c:axId val="148281619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6928928"/>
        <c:crosses val="autoZero"/>
        <c:auto val="1"/>
        <c:lblAlgn val="ctr"/>
        <c:lblOffset val="100"/>
        <c:noMultiLvlLbl val="0"/>
      </c:catAx>
      <c:valAx>
        <c:axId val="56928928"/>
        <c:scaling>
          <c:orientation val="minMax"/>
        </c:scaling>
        <c:delete val="0"/>
        <c:axPos val="l"/>
        <c:majorGridlines>
          <c:spPr>
            <a:ln w="9525" cap="flat" cmpd="sng" algn="ctr">
              <a:solidFill>
                <a:schemeClr val="dk1">
                  <a:lumMod val="50000"/>
                  <a:lumOff val="50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82816192"/>
        <c:crosses val="autoZero"/>
        <c:crossBetween val="between"/>
      </c:valAx>
      <c:serAx>
        <c:axId val="1764847632"/>
        <c:scaling>
          <c:orientation val="minMax"/>
        </c:scaling>
        <c:delete val="0"/>
        <c:axPos val="b"/>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6928928"/>
        <c:crosses val="autoZero"/>
      </c:ser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[highest -lowest performing product.xlsx]Quantity by product category!PivotTable36</c:name>
    <c:fmtId val="10"/>
  </c:pivotSource>
  <c:chart>
    <c:autoTitleDeleted val="0"/>
    <c:pivotFmts>
      <c:pivotFmt>
        <c:idx val="0"/>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circle"/>
          <c:size val="6"/>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w="9525">
              <a:solidFill>
                <a:schemeClr val="accent1"/>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circle"/>
          <c:size val="6"/>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w="9525">
              <a:solidFill>
                <a:schemeClr val="accent2"/>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w="34925" cap="rnd">
            <a:solidFill>
              <a:schemeClr val="accent1"/>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circle"/>
          <c:size val="6"/>
          <c:spPr>
            <a:gradFill rotWithShape="1">
              <a:gsLst>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lin ang="5400000" scaled="0"/>
            </a:gradFill>
            <a:ln w="9525">
              <a:solidFill>
                <a:schemeClr val="accent3"/>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w="34925" cap="rnd">
            <a:solidFill>
              <a:schemeClr val="accent1"/>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circle"/>
          <c:size val="6"/>
          <c:spPr>
            <a:gradFill rotWithShape="1">
              <a:gsLst>
                <a:gs pos="0">
                  <a:schemeClr val="accent4">
                    <a:tint val="94000"/>
                    <a:satMod val="103000"/>
                    <a:lumMod val="102000"/>
                  </a:schemeClr>
                </a:gs>
                <a:gs pos="50000">
                  <a:schemeClr val="accent4">
                    <a:shade val="100000"/>
                    <a:satMod val="110000"/>
                    <a:lumMod val="100000"/>
                  </a:schemeClr>
                </a:gs>
                <a:gs pos="100000">
                  <a:schemeClr val="accent4">
                    <a:shade val="78000"/>
                    <a:satMod val="120000"/>
                    <a:lumMod val="99000"/>
                  </a:schemeClr>
                </a:gs>
              </a:gsLst>
              <a:lin ang="5400000" scaled="0"/>
            </a:gradFill>
            <a:ln w="9525">
              <a:solidFill>
                <a:schemeClr val="accent4"/>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w="34925" cap="rnd">
            <a:solidFill>
              <a:schemeClr val="accent1"/>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circle"/>
          <c:size val="6"/>
          <c:spPr>
            <a:gradFill rotWithShape="1">
              <a:gsLst>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lin ang="5400000" scaled="0"/>
            </a:gradFill>
            <a:ln w="9525">
              <a:solidFill>
                <a:schemeClr val="accent3"/>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w="34925" cap="rnd">
            <a:solidFill>
              <a:schemeClr val="accent1"/>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circle"/>
          <c:size val="6"/>
          <c:spPr>
            <a:gradFill rotWithShape="1">
              <a:gsLst>
                <a:gs pos="0">
                  <a:schemeClr val="accent4">
                    <a:tint val="94000"/>
                    <a:satMod val="103000"/>
                    <a:lumMod val="102000"/>
                  </a:schemeClr>
                </a:gs>
                <a:gs pos="50000">
                  <a:schemeClr val="accent4">
                    <a:shade val="100000"/>
                    <a:satMod val="110000"/>
                    <a:lumMod val="100000"/>
                  </a:schemeClr>
                </a:gs>
                <a:gs pos="100000">
                  <a:schemeClr val="accent4">
                    <a:shade val="78000"/>
                    <a:satMod val="120000"/>
                    <a:lumMod val="99000"/>
                  </a:schemeClr>
                </a:gs>
              </a:gsLst>
              <a:lin ang="5400000" scaled="0"/>
            </a:gradFill>
            <a:ln w="9525">
              <a:solidFill>
                <a:schemeClr val="accent4"/>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tint val="96000"/>
                  <a:lumMod val="104000"/>
                </a:schemeClr>
              </a:gs>
              <a:gs pos="100000">
                <a:schemeClr val="accent1">
                  <a:shade val="90000"/>
                  <a:lumMod val="90000"/>
                </a:schemeClr>
              </a:gs>
            </a:gsLst>
            <a:lin ang="5400000" scaled="0"/>
          </a:gradFill>
          <a:ln w="34925" cap="rnd">
            <a:solidFill>
              <a:schemeClr val="accent1"/>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circle"/>
          <c:size val="6"/>
          <c:spPr>
            <a:gradFill rotWithShape="1">
              <a:gsLst>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lin ang="5400000" scaled="0"/>
            </a:gradFill>
            <a:ln w="9525">
              <a:solidFill>
                <a:schemeClr val="accent3"/>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tint val="96000"/>
                  <a:lumMod val="104000"/>
                </a:schemeClr>
              </a:gs>
              <a:gs pos="100000">
                <a:schemeClr val="accent1">
                  <a:shade val="90000"/>
                  <a:lumMod val="90000"/>
                </a:schemeClr>
              </a:gs>
            </a:gsLst>
            <a:lin ang="5400000" scaled="0"/>
          </a:gradFill>
          <a:ln w="34925" cap="rnd">
            <a:solidFill>
              <a:schemeClr val="accent1"/>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symbol val="circle"/>
          <c:size val="6"/>
          <c:spPr>
            <a:gradFill rotWithShape="1">
              <a:gsLst>
                <a:gs pos="0">
                  <a:schemeClr val="accent4">
                    <a:tint val="94000"/>
                    <a:satMod val="103000"/>
                    <a:lumMod val="102000"/>
                  </a:schemeClr>
                </a:gs>
                <a:gs pos="50000">
                  <a:schemeClr val="accent4">
                    <a:shade val="100000"/>
                    <a:satMod val="110000"/>
                    <a:lumMod val="100000"/>
                  </a:schemeClr>
                </a:gs>
                <a:gs pos="100000">
                  <a:schemeClr val="accent4">
                    <a:shade val="78000"/>
                    <a:satMod val="120000"/>
                    <a:lumMod val="99000"/>
                  </a:schemeClr>
                </a:gs>
              </a:gsLst>
              <a:lin ang="5400000" scaled="0"/>
            </a:gradFill>
            <a:ln w="9525">
              <a:solidFill>
                <a:schemeClr val="accent4"/>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0775035022462666E-2"/>
          <c:y val="5.2631578947368418E-2"/>
          <c:w val="0.72831467078885082"/>
          <c:h val="0.8554828014919188"/>
        </c:manualLayout>
      </c:layout>
      <c:barChart>
        <c:barDir val="col"/>
        <c:grouping val="clustered"/>
        <c:varyColors val="0"/>
        <c:ser>
          <c:idx val="0"/>
          <c:order val="0"/>
          <c:tx>
            <c:strRef>
              <c:f>'Quantity by product category'!$B$3:$B$4</c:f>
              <c:strCache>
                <c:ptCount val="1"/>
                <c:pt idx="0">
                  <c:v>Astoria</c:v>
                </c:pt>
              </c:strCache>
            </c:strRef>
          </c:tx>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invertIfNegative val="0"/>
          <c:cat>
            <c:strRef>
              <c:f>'Quantity by product category'!$A$5:$A$15</c:f>
              <c:strCache>
                <c:ptCount val="10"/>
                <c:pt idx="0">
                  <c:v>Bakery</c:v>
                </c:pt>
                <c:pt idx="1">
                  <c:v>Branded</c:v>
                </c:pt>
                <c:pt idx="2">
                  <c:v>Coffee</c:v>
                </c:pt>
                <c:pt idx="3">
                  <c:v>Coffee beans</c:v>
                </c:pt>
                <c:pt idx="4">
                  <c:v>Drinking Chocolate</c:v>
                </c:pt>
                <c:pt idx="5">
                  <c:v>Flavours</c:v>
                </c:pt>
                <c:pt idx="6">
                  <c:v>Loose Tea</c:v>
                </c:pt>
                <c:pt idx="7">
                  <c:v>Packaged Chocolate</c:v>
                </c:pt>
                <c:pt idx="8">
                  <c:v>Tea</c:v>
                </c:pt>
                <c:pt idx="9">
                  <c:v>(blank)</c:v>
                </c:pt>
              </c:strCache>
            </c:strRef>
          </c:cat>
          <c:val>
            <c:numRef>
              <c:f>'Quantity by product category'!$B$5:$B$15</c:f>
              <c:numCache>
                <c:formatCode>_([$$-409]* #,##0.00_);_([$$-409]* \(#,##0.00\);_([$$-409]* "-"??_);_(@_)</c:formatCode>
                <c:ptCount val="10"/>
                <c:pt idx="0">
                  <c:v>7240</c:v>
                </c:pt>
                <c:pt idx="1">
                  <c:v>279</c:v>
                </c:pt>
                <c:pt idx="2">
                  <c:v>19958</c:v>
                </c:pt>
                <c:pt idx="3">
                  <c:v>502</c:v>
                </c:pt>
                <c:pt idx="4">
                  <c:v>4294</c:v>
                </c:pt>
                <c:pt idx="5">
                  <c:v>1488</c:v>
                </c:pt>
                <c:pt idx="6">
                  <c:v>344</c:v>
                </c:pt>
                <c:pt idx="7">
                  <c:v>110</c:v>
                </c:pt>
                <c:pt idx="8">
                  <c:v>16234</c:v>
                </c:pt>
              </c:numCache>
            </c:numRef>
          </c:val>
          <c:extLst>
            <c:ext xmlns:c16="http://schemas.microsoft.com/office/drawing/2014/chart" uri="{C3380CC4-5D6E-409C-BE32-E72D297353CC}">
              <c16:uniqueId val="{00000000-6C5F-B144-823D-08A17374C7C9}"/>
            </c:ext>
          </c:extLst>
        </c:ser>
        <c:ser>
          <c:idx val="1"/>
          <c:order val="1"/>
          <c:tx>
            <c:strRef>
              <c:f>'Quantity by product category'!$C$3:$C$4</c:f>
              <c:strCache>
                <c:ptCount val="1"/>
                <c:pt idx="0">
                  <c:v>Hell's Kitchen</c:v>
                </c:pt>
              </c:strCache>
            </c:strRef>
          </c:tx>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invertIfNegative val="0"/>
          <c:cat>
            <c:strRef>
              <c:f>'Quantity by product category'!$A$5:$A$15</c:f>
              <c:strCache>
                <c:ptCount val="10"/>
                <c:pt idx="0">
                  <c:v>Bakery</c:v>
                </c:pt>
                <c:pt idx="1">
                  <c:v>Branded</c:v>
                </c:pt>
                <c:pt idx="2">
                  <c:v>Coffee</c:v>
                </c:pt>
                <c:pt idx="3">
                  <c:v>Coffee beans</c:v>
                </c:pt>
                <c:pt idx="4">
                  <c:v>Drinking Chocolate</c:v>
                </c:pt>
                <c:pt idx="5">
                  <c:v>Flavours</c:v>
                </c:pt>
                <c:pt idx="6">
                  <c:v>Loose Tea</c:v>
                </c:pt>
                <c:pt idx="7">
                  <c:v>Packaged Chocolate</c:v>
                </c:pt>
                <c:pt idx="8">
                  <c:v>Tea</c:v>
                </c:pt>
                <c:pt idx="9">
                  <c:v>(blank)</c:v>
                </c:pt>
              </c:strCache>
            </c:strRef>
          </c:cat>
          <c:val>
            <c:numRef>
              <c:f>'Quantity by product category'!$C$5:$C$15</c:f>
              <c:numCache>
                <c:formatCode>_([$$-409]* #,##0.00_);_([$$-409]* \(#,##0.00\);_([$$-409]* "-"??_);_(@_)</c:formatCode>
                <c:ptCount val="10"/>
                <c:pt idx="0">
                  <c:v>7503</c:v>
                </c:pt>
                <c:pt idx="1">
                  <c:v>119</c:v>
                </c:pt>
                <c:pt idx="2">
                  <c:v>20161</c:v>
                </c:pt>
                <c:pt idx="3">
                  <c:v>720</c:v>
                </c:pt>
                <c:pt idx="4">
                  <c:v>3763</c:v>
                </c:pt>
                <c:pt idx="5">
                  <c:v>2370</c:v>
                </c:pt>
                <c:pt idx="6">
                  <c:v>485</c:v>
                </c:pt>
                <c:pt idx="7">
                  <c:v>197</c:v>
                </c:pt>
                <c:pt idx="8">
                  <c:v>15276</c:v>
                </c:pt>
              </c:numCache>
            </c:numRef>
          </c:val>
          <c:extLst>
            <c:ext xmlns:c16="http://schemas.microsoft.com/office/drawing/2014/chart" uri="{C3380CC4-5D6E-409C-BE32-E72D297353CC}">
              <c16:uniqueId val="{00000001-6C5F-B144-823D-08A17374C7C9}"/>
            </c:ext>
          </c:extLst>
        </c:ser>
        <c:dLbls>
          <c:showLegendKey val="0"/>
          <c:showVal val="0"/>
          <c:showCatName val="0"/>
          <c:showSerName val="0"/>
          <c:showPercent val="0"/>
          <c:showBubbleSize val="0"/>
        </c:dLbls>
        <c:gapWidth val="150"/>
        <c:axId val="1019919152"/>
        <c:axId val="1877614944"/>
      </c:barChart>
      <c:lineChart>
        <c:grouping val="standard"/>
        <c:varyColors val="0"/>
        <c:ser>
          <c:idx val="2"/>
          <c:order val="2"/>
          <c:tx>
            <c:strRef>
              <c:f>'Quantity by product category'!$D$3:$D$4</c:f>
              <c:strCache>
                <c:ptCount val="1"/>
                <c:pt idx="0">
                  <c:v>Lower Manhattan</c:v>
                </c:pt>
              </c:strCache>
            </c:strRef>
          </c:tx>
          <c:spPr>
            <a:ln w="34925" cap="rnd">
              <a:solidFill>
                <a:schemeClr val="accent3"/>
              </a:solidFill>
              <a:round/>
            </a:ln>
            <a:effectLst>
              <a:outerShdw blurRad="38100" dist="25400" dir="5400000" algn="ctr" rotWithShape="0">
                <a:srgbClr val="000000">
                  <a:alpha val="25000"/>
                </a:srgbClr>
              </a:outerShdw>
            </a:effectLst>
          </c:spPr>
          <c:marker>
            <c:symbol val="circle"/>
            <c:size val="6"/>
            <c:spPr>
              <a:gradFill rotWithShape="1">
                <a:gsLst>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lin ang="5400000" scaled="0"/>
              </a:gradFill>
              <a:ln w="9525">
                <a:solidFill>
                  <a:schemeClr val="accent3"/>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cat>
            <c:strRef>
              <c:f>'Quantity by product category'!$A$5:$A$15</c:f>
              <c:strCache>
                <c:ptCount val="10"/>
                <c:pt idx="0">
                  <c:v>Bakery</c:v>
                </c:pt>
                <c:pt idx="1">
                  <c:v>Branded</c:v>
                </c:pt>
                <c:pt idx="2">
                  <c:v>Coffee</c:v>
                </c:pt>
                <c:pt idx="3">
                  <c:v>Coffee beans</c:v>
                </c:pt>
                <c:pt idx="4">
                  <c:v>Drinking Chocolate</c:v>
                </c:pt>
                <c:pt idx="5">
                  <c:v>Flavours</c:v>
                </c:pt>
                <c:pt idx="6">
                  <c:v>Loose Tea</c:v>
                </c:pt>
                <c:pt idx="7">
                  <c:v>Packaged Chocolate</c:v>
                </c:pt>
                <c:pt idx="8">
                  <c:v>Tea</c:v>
                </c:pt>
                <c:pt idx="9">
                  <c:v>(blank)</c:v>
                </c:pt>
              </c:strCache>
            </c:strRef>
          </c:cat>
          <c:val>
            <c:numRef>
              <c:f>'Quantity by product category'!$D$5:$D$15</c:f>
              <c:numCache>
                <c:formatCode>_([$$-409]* #,##0.00_);_([$$-409]* \(#,##0.00\);_([$$-409]* "-"??_);_(@_)</c:formatCode>
                <c:ptCount val="10"/>
                <c:pt idx="0">
                  <c:v>7791</c:v>
                </c:pt>
                <c:pt idx="1">
                  <c:v>349</c:v>
                </c:pt>
                <c:pt idx="2">
                  <c:v>18184</c:v>
                </c:pt>
                <c:pt idx="3">
                  <c:v>531</c:v>
                </c:pt>
                <c:pt idx="4">
                  <c:v>3405</c:v>
                </c:pt>
                <c:pt idx="5">
                  <c:v>2929</c:v>
                </c:pt>
                <c:pt idx="6">
                  <c:v>381</c:v>
                </c:pt>
                <c:pt idx="7">
                  <c:v>180</c:v>
                </c:pt>
                <c:pt idx="8">
                  <c:v>13909</c:v>
                </c:pt>
              </c:numCache>
            </c:numRef>
          </c:val>
          <c:smooth val="0"/>
          <c:extLst>
            <c:ext xmlns:c16="http://schemas.microsoft.com/office/drawing/2014/chart" uri="{C3380CC4-5D6E-409C-BE32-E72D297353CC}">
              <c16:uniqueId val="{00000002-6C5F-B144-823D-08A17374C7C9}"/>
            </c:ext>
          </c:extLst>
        </c:ser>
        <c:ser>
          <c:idx val="3"/>
          <c:order val="3"/>
          <c:tx>
            <c:strRef>
              <c:f>'Quantity by product category'!$E$3:$E$4</c:f>
              <c:strCache>
                <c:ptCount val="1"/>
                <c:pt idx="0">
                  <c:v>(blank)</c:v>
                </c:pt>
              </c:strCache>
            </c:strRef>
          </c:tx>
          <c:spPr>
            <a:ln w="34925" cap="rnd">
              <a:solidFill>
                <a:schemeClr val="accent4"/>
              </a:solidFill>
              <a:round/>
            </a:ln>
            <a:effectLst>
              <a:outerShdw blurRad="38100" dist="25400" dir="5400000" algn="ctr" rotWithShape="0">
                <a:srgbClr val="000000">
                  <a:alpha val="25000"/>
                </a:srgbClr>
              </a:outerShdw>
            </a:effectLst>
          </c:spPr>
          <c:marker>
            <c:symbol val="circle"/>
            <c:size val="6"/>
            <c:spPr>
              <a:gradFill rotWithShape="1">
                <a:gsLst>
                  <a:gs pos="0">
                    <a:schemeClr val="accent4">
                      <a:tint val="94000"/>
                      <a:satMod val="103000"/>
                      <a:lumMod val="102000"/>
                    </a:schemeClr>
                  </a:gs>
                  <a:gs pos="50000">
                    <a:schemeClr val="accent4">
                      <a:shade val="100000"/>
                      <a:satMod val="110000"/>
                      <a:lumMod val="100000"/>
                    </a:schemeClr>
                  </a:gs>
                  <a:gs pos="100000">
                    <a:schemeClr val="accent4">
                      <a:shade val="78000"/>
                      <a:satMod val="120000"/>
                      <a:lumMod val="99000"/>
                    </a:schemeClr>
                  </a:gs>
                </a:gsLst>
                <a:lin ang="5400000" scaled="0"/>
              </a:gradFill>
              <a:ln w="9525">
                <a:solidFill>
                  <a:schemeClr val="accent4"/>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cat>
            <c:strRef>
              <c:f>'Quantity by product category'!$A$5:$A$15</c:f>
              <c:strCache>
                <c:ptCount val="10"/>
                <c:pt idx="0">
                  <c:v>Bakery</c:v>
                </c:pt>
                <c:pt idx="1">
                  <c:v>Branded</c:v>
                </c:pt>
                <c:pt idx="2">
                  <c:v>Coffee</c:v>
                </c:pt>
                <c:pt idx="3">
                  <c:v>Coffee beans</c:v>
                </c:pt>
                <c:pt idx="4">
                  <c:v>Drinking Chocolate</c:v>
                </c:pt>
                <c:pt idx="5">
                  <c:v>Flavours</c:v>
                </c:pt>
                <c:pt idx="6">
                  <c:v>Loose Tea</c:v>
                </c:pt>
                <c:pt idx="7">
                  <c:v>Packaged Chocolate</c:v>
                </c:pt>
                <c:pt idx="8">
                  <c:v>Tea</c:v>
                </c:pt>
                <c:pt idx="9">
                  <c:v>(blank)</c:v>
                </c:pt>
              </c:strCache>
            </c:strRef>
          </c:cat>
          <c:val>
            <c:numRef>
              <c:f>'Quantity by product category'!$E$5:$E$15</c:f>
              <c:numCache>
                <c:formatCode>_([$$-409]* #,##0.00_);_([$$-409]* \(#,##0.00\);_([$$-409]* "-"??_);_(@_)</c:formatCode>
                <c:ptCount val="10"/>
              </c:numCache>
            </c:numRef>
          </c:val>
          <c:smooth val="0"/>
          <c:extLst>
            <c:ext xmlns:c16="http://schemas.microsoft.com/office/drawing/2014/chart" uri="{C3380CC4-5D6E-409C-BE32-E72D297353CC}">
              <c16:uniqueId val="{00000003-6C5F-B144-823D-08A17374C7C9}"/>
            </c:ext>
          </c:extLst>
        </c:ser>
        <c:dLbls>
          <c:showLegendKey val="0"/>
          <c:showVal val="0"/>
          <c:showCatName val="0"/>
          <c:showSerName val="0"/>
          <c:showPercent val="0"/>
          <c:showBubbleSize val="0"/>
        </c:dLbls>
        <c:marker val="1"/>
        <c:smooth val="0"/>
        <c:axId val="1073313856"/>
        <c:axId val="1073161024"/>
      </c:lineChart>
      <c:catAx>
        <c:axId val="101991915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877614944"/>
        <c:crosses val="autoZero"/>
        <c:auto val="1"/>
        <c:lblAlgn val="ctr"/>
        <c:lblOffset val="100"/>
        <c:noMultiLvlLbl val="0"/>
      </c:catAx>
      <c:valAx>
        <c:axId val="1877614944"/>
        <c:scaling>
          <c:orientation val="minMax"/>
        </c:scaling>
        <c:delete val="0"/>
        <c:axPos val="l"/>
        <c:majorGridlines>
          <c:spPr>
            <a:ln w="9525" cap="flat" cmpd="sng" algn="ctr">
              <a:solidFill>
                <a:schemeClr val="lt1">
                  <a:lumMod val="95000"/>
                  <a:alpha val="10000"/>
                </a:schemeClr>
              </a:solidFill>
              <a:round/>
            </a:ln>
            <a:effectLst/>
          </c:spPr>
        </c:majorGridlines>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019919152"/>
        <c:crosses val="autoZero"/>
        <c:crossBetween val="between"/>
      </c:valAx>
      <c:valAx>
        <c:axId val="1073161024"/>
        <c:scaling>
          <c:orientation val="minMax"/>
        </c:scaling>
        <c:delete val="0"/>
        <c:axPos val="r"/>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073313856"/>
        <c:crosses val="max"/>
        <c:crossBetween val="between"/>
      </c:valAx>
      <c:catAx>
        <c:axId val="1073313856"/>
        <c:scaling>
          <c:orientation val="minMax"/>
        </c:scaling>
        <c:delete val="1"/>
        <c:axPos val="b"/>
        <c:numFmt formatCode="General" sourceLinked="1"/>
        <c:majorTickMark val="none"/>
        <c:minorTickMark val="none"/>
        <c:tickLblPos val="nextTo"/>
        <c:crossAx val="1073161024"/>
        <c:crosses val="autoZero"/>
        <c:auto val="1"/>
        <c:lblAlgn val="ctr"/>
        <c:lblOffset val="100"/>
        <c:noMultiLvlLbl val="0"/>
      </c:catAx>
      <c:spPr>
        <a:noFill/>
        <a:ln>
          <a:noFill/>
        </a:ln>
        <a:effectLst/>
      </c:spPr>
    </c:plotArea>
    <c:legend>
      <c:legendPos val="r"/>
      <c:legendEntry>
        <c:idx val="3"/>
        <c:delete val="1"/>
      </c:legendEntry>
      <c:layout>
        <c:manualLayout>
          <c:xMode val="edge"/>
          <c:yMode val="edge"/>
          <c:x val="0.8950412517167482"/>
          <c:y val="0.41450942387565176"/>
          <c:w val="9.8639124607718898E-2"/>
          <c:h val="0.2515820344604581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[highest -lowest performing product.xlsx]Peak time vs sales!PivotTable37</c:name>
    <c:fmtId val="5"/>
  </c:pivotSource>
  <c:chart>
    <c:autoTitleDeleted val="0"/>
    <c:pivotFmts>
      <c:pivotFmt>
        <c:idx val="0"/>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'Peak time vs sales'!$B$3:$B$4</c:f>
              <c:strCache>
                <c:ptCount val="1"/>
                <c:pt idx="0">
                  <c:v>Astoria</c:v>
                </c:pt>
              </c:strCache>
            </c:strRef>
          </c:tx>
          <c:spPr>
            <a:ln w="22225" cap="rnd">
              <a:solidFill>
                <a:schemeClr val="accent1"/>
              </a:solidFill>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'Peak time vs sales'!$A$5:$A$7</c:f>
              <c:strCache>
                <c:ptCount val="2"/>
                <c:pt idx="0">
                  <c:v>01.Morning</c:v>
                </c:pt>
                <c:pt idx="1">
                  <c:v>02.Afternoon</c:v>
                </c:pt>
              </c:strCache>
            </c:strRef>
          </c:cat>
          <c:val>
            <c:numRef>
              <c:f>'Peak time vs sales'!$B$5:$B$7</c:f>
              <c:numCache>
                <c:formatCode>_([$$-409]* #,##0.00_);_([$$-409]* \(#,##0.00\);_([$$-409]* "-"??_);_(@_)</c:formatCode>
                <c:ptCount val="2"/>
                <c:pt idx="0">
                  <c:v>104942.52000000016</c:v>
                </c:pt>
                <c:pt idx="1">
                  <c:v>78567.139999998952</c:v>
                </c:pt>
              </c:numCache>
            </c:numRef>
          </c:val>
          <c:smooth val="0"/>
          <c:extLst>
            <c:ext xmlns:c16="http://schemas.microsoft.com/office/drawing/2014/chart" uri="{C3380CC4-5D6E-409C-BE32-E72D297353CC}">
              <c16:uniqueId val="{00000000-AA16-264D-929F-BE2DA1E90A5A}"/>
            </c:ext>
          </c:extLst>
        </c:ser>
        <c:ser>
          <c:idx val="1"/>
          <c:order val="1"/>
          <c:tx>
            <c:strRef>
              <c:f>'Peak time vs sales'!$C$3:$C$4</c:f>
              <c:strCache>
                <c:ptCount val="1"/>
                <c:pt idx="0">
                  <c:v>Hell's Kitchen</c:v>
                </c:pt>
              </c:strCache>
            </c:strRef>
          </c:tx>
          <c:spPr>
            <a:ln w="22225" cap="rnd">
              <a:solidFill>
                <a:schemeClr val="accent2"/>
              </a:solidFill>
            </a:ln>
            <a:effectLst>
              <a:glow rad="139700">
                <a:schemeClr val="accent2">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'Peak time vs sales'!$A$5:$A$7</c:f>
              <c:strCache>
                <c:ptCount val="2"/>
                <c:pt idx="0">
                  <c:v>01.Morning</c:v>
                </c:pt>
                <c:pt idx="1">
                  <c:v>02.Afternoon</c:v>
                </c:pt>
              </c:strCache>
            </c:strRef>
          </c:cat>
          <c:val>
            <c:numRef>
              <c:f>'Peak time vs sales'!$C$5:$C$7</c:f>
              <c:numCache>
                <c:formatCode>_([$$-409]* #,##0.00_);_([$$-409]* \(#,##0.00\);_([$$-409]* "-"??_);_(@_)</c:formatCode>
                <c:ptCount val="2"/>
                <c:pt idx="0">
                  <c:v>139443.300000002</c:v>
                </c:pt>
                <c:pt idx="1">
                  <c:v>59012.429999999447</c:v>
                </c:pt>
              </c:numCache>
            </c:numRef>
          </c:val>
          <c:smooth val="0"/>
          <c:extLst>
            <c:ext xmlns:c16="http://schemas.microsoft.com/office/drawing/2014/chart" uri="{C3380CC4-5D6E-409C-BE32-E72D297353CC}">
              <c16:uniqueId val="{00000001-AA16-264D-929F-BE2DA1E90A5A}"/>
            </c:ext>
          </c:extLst>
        </c:ser>
        <c:ser>
          <c:idx val="2"/>
          <c:order val="2"/>
          <c:tx>
            <c:strRef>
              <c:f>'Peak time vs sales'!$D$3:$D$4</c:f>
              <c:strCache>
                <c:ptCount val="1"/>
                <c:pt idx="0">
                  <c:v>Lower Manhattan</c:v>
                </c:pt>
              </c:strCache>
            </c:strRef>
          </c:tx>
          <c:spPr>
            <a:ln w="22225" cap="rnd">
              <a:solidFill>
                <a:schemeClr val="accent3"/>
              </a:solidFill>
            </a:ln>
            <a:effectLst>
              <a:glow rad="139700">
                <a:schemeClr val="accent3">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'Peak time vs sales'!$A$5:$A$7</c:f>
              <c:strCache>
                <c:ptCount val="2"/>
                <c:pt idx="0">
                  <c:v>01.Morning</c:v>
                </c:pt>
                <c:pt idx="1">
                  <c:v>02.Afternoon</c:v>
                </c:pt>
              </c:strCache>
            </c:strRef>
          </c:cat>
          <c:val>
            <c:numRef>
              <c:f>'Peak time vs sales'!$D$5:$D$7</c:f>
              <c:numCache>
                <c:formatCode>_([$$-409]* #,##0.00_);_([$$-409]* \(#,##0.00\);_([$$-409]* "-"??_);_(@_)</c:formatCode>
                <c:ptCount val="2"/>
                <c:pt idx="0">
                  <c:v>143902.85000000388</c:v>
                </c:pt>
                <c:pt idx="1">
                  <c:v>67141.259999999296</c:v>
                </c:pt>
              </c:numCache>
            </c:numRef>
          </c:val>
          <c:smooth val="0"/>
          <c:extLst>
            <c:ext xmlns:c16="http://schemas.microsoft.com/office/drawing/2014/chart" uri="{C3380CC4-5D6E-409C-BE32-E72D297353CC}">
              <c16:uniqueId val="{00000002-AA16-264D-929F-BE2DA1E90A5A}"/>
            </c:ext>
          </c:extLst>
        </c:ser>
        <c:dLbls>
          <c:dLblPos val="ctr"/>
          <c:showLegendKey val="0"/>
          <c:showVal val="1"/>
          <c:showCatName val="0"/>
          <c:showSerName val="0"/>
          <c:showPercent val="0"/>
          <c:showBubbleSize val="0"/>
        </c:dLbls>
        <c:marker val="1"/>
        <c:smooth val="0"/>
        <c:axId val="1916187824"/>
        <c:axId val="1916214112"/>
      </c:lineChart>
      <c:catAx>
        <c:axId val="1916187824"/>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916214112"/>
        <c:crosses val="autoZero"/>
        <c:auto val="1"/>
        <c:lblAlgn val="ctr"/>
        <c:lblOffset val="100"/>
        <c:noMultiLvlLbl val="0"/>
      </c:catAx>
      <c:valAx>
        <c:axId val="1916214112"/>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91618782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[highest -lowest performing product.xlsx]some best sellers!PivotTable39</c:name>
    <c:fmtId val="9"/>
  </c:pivotSource>
  <c:chart>
    <c:autoTitleDeleted val="0"/>
    <c:pivotFmts>
      <c:pivotFmt>
        <c:idx val="0"/>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circle"/>
          <c:size val="6"/>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w="9525">
              <a:solidFill>
                <a:schemeClr val="accent1"/>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circle"/>
          <c:size val="6"/>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w="9525">
              <a:solidFill>
                <a:schemeClr val="accent2"/>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circle"/>
          <c:size val="6"/>
          <c:spPr>
            <a:gradFill rotWithShape="1">
              <a:gsLst>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lin ang="5400000" scaled="0"/>
            </a:gradFill>
            <a:ln w="9525">
              <a:solidFill>
                <a:schemeClr val="accent3"/>
              </a:solidFill>
              <a:round/>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a:bevelT w="63500" h="25400" prst="hardEdge"/>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percentStacked"/>
        <c:varyColors val="0"/>
        <c:ser>
          <c:idx val="0"/>
          <c:order val="0"/>
          <c:tx>
            <c:strRef>
              <c:f>'some best sellers'!$B$3:$B$4</c:f>
              <c:strCache>
                <c:ptCount val="1"/>
                <c:pt idx="0">
                  <c:v>Astoria</c:v>
                </c:pt>
              </c:strCache>
            </c:strRef>
          </c:tx>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invertIfNegative val="0"/>
          <c:cat>
            <c:strRef>
              <c:f>'some best sellers'!$A$5:$A$9</c:f>
              <c:strCache>
                <c:ptCount val="4"/>
                <c:pt idx="0">
                  <c:v>Dark chocolate Lg</c:v>
                </c:pt>
                <c:pt idx="1">
                  <c:v>Latte Rg</c:v>
                </c:pt>
                <c:pt idx="2">
                  <c:v>Morning Sunrise Chai Lg</c:v>
                </c:pt>
                <c:pt idx="3">
                  <c:v>Sustainably Grown Organic Lg</c:v>
                </c:pt>
              </c:strCache>
            </c:strRef>
          </c:cat>
          <c:val>
            <c:numRef>
              <c:f>'some best sellers'!$B$5:$B$9</c:f>
              <c:numCache>
                <c:formatCode>_([$$-409]* #,##0.00_);_([$$-409]* \(#,##0.00\);_([$$-409]* "-"??_);_(@_)</c:formatCode>
                <c:ptCount val="4"/>
                <c:pt idx="0">
                  <c:v>7897.5</c:v>
                </c:pt>
                <c:pt idx="1">
                  <c:v>6358</c:v>
                </c:pt>
                <c:pt idx="2">
                  <c:v>6308</c:v>
                </c:pt>
                <c:pt idx="3">
                  <c:v>7509.75</c:v>
                </c:pt>
              </c:numCache>
            </c:numRef>
          </c:val>
          <c:extLst>
            <c:ext xmlns:c16="http://schemas.microsoft.com/office/drawing/2014/chart" uri="{C3380CC4-5D6E-409C-BE32-E72D297353CC}">
              <c16:uniqueId val="{00000000-7478-1F40-9BC2-3B6E0F5A65E6}"/>
            </c:ext>
          </c:extLst>
        </c:ser>
        <c:ser>
          <c:idx val="1"/>
          <c:order val="1"/>
          <c:tx>
            <c:strRef>
              <c:f>'some best sellers'!$C$3:$C$4</c:f>
              <c:strCache>
                <c:ptCount val="1"/>
                <c:pt idx="0">
                  <c:v>Hell's Kitchen</c:v>
                </c:pt>
              </c:strCache>
            </c:strRef>
          </c:tx>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invertIfNegative val="0"/>
          <c:cat>
            <c:strRef>
              <c:f>'some best sellers'!$A$5:$A$9</c:f>
              <c:strCache>
                <c:ptCount val="4"/>
                <c:pt idx="0">
                  <c:v>Dark chocolate Lg</c:v>
                </c:pt>
                <c:pt idx="1">
                  <c:v>Latte Rg</c:v>
                </c:pt>
                <c:pt idx="2">
                  <c:v>Morning Sunrise Chai Lg</c:v>
                </c:pt>
                <c:pt idx="3">
                  <c:v>Sustainably Grown Organic Lg</c:v>
                </c:pt>
              </c:strCache>
            </c:strRef>
          </c:cat>
          <c:val>
            <c:numRef>
              <c:f>'some best sellers'!$C$5:$C$9</c:f>
              <c:numCache>
                <c:formatCode>_([$$-409]* #,##0.00_);_([$$-409]* \(#,##0.00\);_([$$-409]* "-"??_);_(@_)</c:formatCode>
                <c:ptCount val="4"/>
                <c:pt idx="0">
                  <c:v>6534</c:v>
                </c:pt>
                <c:pt idx="1">
                  <c:v>6366.5</c:v>
                </c:pt>
                <c:pt idx="2">
                  <c:v>5652</c:v>
                </c:pt>
                <c:pt idx="3">
                  <c:v>7329.25</c:v>
                </c:pt>
              </c:numCache>
            </c:numRef>
          </c:val>
          <c:extLst>
            <c:ext xmlns:c16="http://schemas.microsoft.com/office/drawing/2014/chart" uri="{C3380CC4-5D6E-409C-BE32-E72D297353CC}">
              <c16:uniqueId val="{00000001-7478-1F40-9BC2-3B6E0F5A65E6}"/>
            </c:ext>
          </c:extLst>
        </c:ser>
        <c:ser>
          <c:idx val="2"/>
          <c:order val="2"/>
          <c:tx>
            <c:strRef>
              <c:f>'some best sellers'!$D$3:$D$4</c:f>
              <c:strCache>
                <c:ptCount val="1"/>
                <c:pt idx="0">
                  <c:v>Lower Manhattan</c:v>
                </c:pt>
              </c:strCache>
            </c:strRef>
          </c:tx>
          <c:spPr>
            <a:gradFill rotWithShape="1">
              <a:gsLst>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lin ang="5400000" scaled="0"/>
            </a:gradFill>
            <a:ln>
              <a:noFill/>
            </a:ln>
            <a:effectLst>
              <a:outerShdw blurRad="38100" dist="25400" dir="5400000" algn="ctr" rotWithShape="0">
                <a:srgbClr val="000000">
                  <a:alpha val="25000"/>
                </a:srgbClr>
              </a:outerShdw>
            </a:effectLst>
            <a:scene3d>
              <a:camera prst="orthographicFront">
                <a:rot lat="0" lon="0" rev="0"/>
              </a:camera>
              <a:lightRig rig="threePt" dir="t">
                <a:rot lat="0" lon="0" rev="1200000"/>
              </a:lightRig>
            </a:scene3d>
            <a:sp3d/>
          </c:spPr>
          <c:invertIfNegative val="0"/>
          <c:cat>
            <c:strRef>
              <c:f>'some best sellers'!$A$5:$A$9</c:f>
              <c:strCache>
                <c:ptCount val="4"/>
                <c:pt idx="0">
                  <c:v>Dark chocolate Lg</c:v>
                </c:pt>
                <c:pt idx="1">
                  <c:v>Latte Rg</c:v>
                </c:pt>
                <c:pt idx="2">
                  <c:v>Morning Sunrise Chai Lg</c:v>
                </c:pt>
                <c:pt idx="3">
                  <c:v>Sustainably Grown Organic Lg</c:v>
                </c:pt>
              </c:strCache>
            </c:strRef>
          </c:cat>
          <c:val>
            <c:numRef>
              <c:f>'some best sellers'!$D$5:$D$9</c:f>
              <c:numCache>
                <c:formatCode>_([$$-409]* #,##0.00_);_([$$-409]* \(#,##0.00\);_([$$-409]* "-"??_);_(@_)</c:formatCode>
                <c:ptCount val="4"/>
                <c:pt idx="0">
                  <c:v>6574.5</c:v>
                </c:pt>
                <c:pt idx="1">
                  <c:v>6387.75</c:v>
                </c:pt>
                <c:pt idx="2">
                  <c:v>5424</c:v>
                </c:pt>
                <c:pt idx="3">
                  <c:v>6312.75</c:v>
                </c:pt>
              </c:numCache>
            </c:numRef>
          </c:val>
          <c:extLst>
            <c:ext xmlns:c16="http://schemas.microsoft.com/office/drawing/2014/chart" uri="{C3380CC4-5D6E-409C-BE32-E72D297353CC}">
              <c16:uniqueId val="{00000002-7478-1F40-9BC2-3B6E0F5A65E6}"/>
            </c:ext>
          </c:extLst>
        </c:ser>
        <c:dLbls>
          <c:showLegendKey val="0"/>
          <c:showVal val="0"/>
          <c:showCatName val="0"/>
          <c:showSerName val="0"/>
          <c:showPercent val="0"/>
          <c:showBubbleSize val="0"/>
        </c:dLbls>
        <c:gapWidth val="150"/>
        <c:shape val="box"/>
        <c:axId val="1082296752"/>
        <c:axId val="1082494112"/>
        <c:axId val="0"/>
      </c:bar3DChart>
      <c:catAx>
        <c:axId val="10822967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082494112"/>
        <c:crosses val="autoZero"/>
        <c:auto val="1"/>
        <c:lblAlgn val="ctr"/>
        <c:lblOffset val="100"/>
        <c:noMultiLvlLbl val="0"/>
      </c:catAx>
      <c:valAx>
        <c:axId val="1082494112"/>
        <c:scaling>
          <c:orientation val="minMax"/>
        </c:scaling>
        <c:delete val="0"/>
        <c:axPos val="l"/>
        <c:majorGridlines>
          <c:spPr>
            <a:ln w="9525" cap="flat" cmpd="sng" algn="ctr">
              <a:solidFill>
                <a:schemeClr val="dk1">
                  <a:lumMod val="50000"/>
                  <a:lumOff val="50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08229675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[highest -lowest performing product.xlsx]Sheet24!PivotTable40</c:name>
    <c:fmtId val="7"/>
  </c:pivotSource>
  <c:chart>
    <c:autoTitleDeleted val="1"/>
    <c:pivotFmts>
      <c:pivotFmt>
        <c:idx val="0"/>
        <c:spPr>
          <a:solidFill>
            <a:schemeClr val="accent2">
              <a:alpha val="85000"/>
            </a:schemeClr>
          </a:solidFill>
          <a:ln w="9525" cap="flat" cmpd="sng" algn="ctr">
            <a:solidFill>
              <a:schemeClr val="accent2">
                <a:lumMod val="75000"/>
              </a:schemeClr>
            </a:solidFill>
            <a:round/>
          </a:ln>
          <a:effectLst/>
          <a:sp3d contourW="9525">
            <a:contourClr>
              <a:schemeClr val="accent2">
                <a:lumMod val="75000"/>
              </a:schemeClr>
            </a:contourClr>
          </a:sp3d>
        </c:spPr>
        <c:marker>
          <c:symbol val="circle"/>
          <c:size val="6"/>
          <c:spPr>
            <a:solidFill>
              <a:schemeClr val="accent2">
                <a:alpha val="85000"/>
              </a:schemeClr>
            </a:solidFill>
            <a:ln w="9525">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alpha val="85000"/>
            </a:schemeClr>
          </a:solidFill>
          <a:ln w="9525" cap="flat" cmpd="sng" algn="ctr">
            <a:solidFill>
              <a:schemeClr val="accent2">
                <a:lumMod val="75000"/>
              </a:schemeClr>
            </a:solidFill>
            <a:round/>
          </a:ln>
          <a:effectLst/>
          <a:sp3d contourW="9525">
            <a:contourClr>
              <a:schemeClr val="accent2">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2">
              <a:alpha val="85000"/>
            </a:schemeClr>
          </a:solidFill>
          <a:ln w="9525" cap="flat" cmpd="sng" algn="ctr">
            <a:solidFill>
              <a:schemeClr val="accent2">
                <a:lumMod val="75000"/>
              </a:schemeClr>
            </a:solidFill>
            <a:round/>
          </a:ln>
          <a:effectLst/>
          <a:sp3d contourW="9525">
            <a:contourClr>
              <a:schemeClr val="accent2">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3.8362982404977153E-2"/>
          <c:y val="0.12959050669513769"/>
          <c:w val="0.86342438676646904"/>
          <c:h val="0.82096534543351574"/>
        </c:manualLayout>
      </c:layout>
      <c:bar3DChart>
        <c:barDir val="bar"/>
        <c:grouping val="clustered"/>
        <c:varyColors val="0"/>
        <c:ser>
          <c:idx val="0"/>
          <c:order val="0"/>
          <c:tx>
            <c:strRef>
              <c:f>Sheet24!$B$3</c:f>
              <c:strCache>
                <c:ptCount val="1"/>
                <c:pt idx="0">
                  <c:v>Total</c:v>
                </c:pt>
              </c:strCache>
            </c:strRef>
          </c:tx>
          <c:spPr>
            <a:solidFill>
              <a:schemeClr val="accent2"/>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Sheet24!$A$4:$A$10</c:f>
              <c:strCache>
                <c:ptCount val="6"/>
                <c:pt idx="0">
                  <c:v>Jan</c:v>
                </c:pt>
                <c:pt idx="1">
                  <c:v>Feb</c:v>
                </c:pt>
                <c:pt idx="2">
                  <c:v>Mar</c:v>
                </c:pt>
                <c:pt idx="3">
                  <c:v>Apr</c:v>
                </c:pt>
                <c:pt idx="4">
                  <c:v>May</c:v>
                </c:pt>
                <c:pt idx="5">
                  <c:v>Jun</c:v>
                </c:pt>
              </c:strCache>
            </c:strRef>
          </c:cat>
          <c:val>
            <c:numRef>
              <c:f>Sheet24!$B$4:$B$10</c:f>
              <c:numCache>
                <c:formatCode>_([$$-409]* #,##0.00_);_([$$-409]* \(#,##0.00\);_([$$-409]* "-"??_);_(@_)</c:formatCode>
                <c:ptCount val="6"/>
                <c:pt idx="0">
                  <c:v>81677.739999999263</c:v>
                </c:pt>
                <c:pt idx="1">
                  <c:v>76145.18999999958</c:v>
                </c:pt>
                <c:pt idx="2">
                  <c:v>98834.679999999964</c:v>
                </c:pt>
                <c:pt idx="3">
                  <c:v>118941.08000000102</c:v>
                </c:pt>
                <c:pt idx="4">
                  <c:v>156727.76000000443</c:v>
                </c:pt>
                <c:pt idx="5">
                  <c:v>166485.8800000053</c:v>
                </c:pt>
              </c:numCache>
            </c:numRef>
          </c:val>
          <c:extLst>
            <c:ext xmlns:c16="http://schemas.microsoft.com/office/drawing/2014/chart" uri="{C3380CC4-5D6E-409C-BE32-E72D297353CC}">
              <c16:uniqueId val="{00000000-CCC5-FD45-8794-F2307198A4A0}"/>
            </c:ext>
          </c:extLst>
        </c:ser>
        <c:dLbls>
          <c:showLegendKey val="0"/>
          <c:showVal val="1"/>
          <c:showCatName val="0"/>
          <c:showSerName val="0"/>
          <c:showPercent val="0"/>
          <c:showBubbleSize val="0"/>
        </c:dLbls>
        <c:gapWidth val="150"/>
        <c:shape val="box"/>
        <c:axId val="2036669279"/>
        <c:axId val="2037286543"/>
        <c:axId val="0"/>
      </c:bar3DChart>
      <c:catAx>
        <c:axId val="203666927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37286543"/>
        <c:crosses val="autoZero"/>
        <c:auto val="1"/>
        <c:lblAlgn val="ctr"/>
        <c:lblOffset val="100"/>
        <c:noMultiLvlLbl val="0"/>
      </c:catAx>
      <c:valAx>
        <c:axId val="2037286543"/>
        <c:scaling>
          <c:orientation val="minMax"/>
        </c:scaling>
        <c:delete val="0"/>
        <c:axPos val="b"/>
        <c:majorGridlines>
          <c:spPr>
            <a:ln w="9525" cap="flat" cmpd="sng" algn="ctr">
              <a:solidFill>
                <a:schemeClr val="tx1">
                  <a:lumMod val="15000"/>
                  <a:lumOff val="85000"/>
                </a:schemeClr>
              </a:solidFill>
              <a:round/>
            </a:ln>
            <a:effectLst/>
          </c:spPr>
        </c:majorGridlines>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3666927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328">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gradFill>
        <a:gsLst>
          <a:gs pos="100000">
            <a:schemeClr val="dk1">
              <a:lumMod val="95000"/>
              <a:lumOff val="5000"/>
            </a:schemeClr>
          </a:gs>
          <a:gs pos="0">
            <a:schemeClr val="dk1">
              <a:lumMod val="75000"/>
              <a:lumOff val="25000"/>
            </a:schemeClr>
          </a:gs>
        </a:gsLst>
        <a:path path="circle">
          <a:fillToRect l="50000" t="50000" r="50000" b="50000"/>
        </a:path>
      </a:gradFill>
      <a:ln w="9525">
        <a:solidFill>
          <a:schemeClr val="dk1">
            <a:lumMod val="75000"/>
            <a:lumOff val="25000"/>
          </a:schemeClr>
        </a:solidFill>
      </a:ln>
    </cs:spPr>
  </cs:downBar>
  <cs:dropLine>
    <cs:lnRef idx="0"/>
    <cs:fillRef idx="0"/>
    <cs:effectRef idx="0"/>
    <cs:fontRef idx="minor">
      <a:schemeClr val="tx1"/>
    </cs:fontRef>
    <cs:spPr>
      <a:ln w="9525" cap="flat" cmpd="sng" algn="ctr">
        <a:solidFill>
          <a:schemeClr val="lt1"/>
        </a:solidFill>
        <a:round/>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cap="flat" cmpd="sng" algn="ctr">
        <a:solidFill>
          <a:schemeClr val="lt1"/>
        </a:solidFill>
        <a:round/>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gradFill>
        <a:gsLst>
          <a:gs pos="100000">
            <a:schemeClr val="lt1">
              <a:lumMod val="85000"/>
            </a:schemeClr>
          </a:gs>
          <a:gs pos="0">
            <a:schemeClr val="lt1"/>
          </a:gs>
        </a:gsLst>
        <a:path path="circle">
          <a:fillToRect l="50000" t="50000" r="50000" b="50000"/>
        </a:path>
      </a:gradFill>
      <a:ln w="9525" cap="flat" cmpd="sng" algn="ctr">
        <a:solidFill>
          <a:schemeClr val="lt1"/>
        </a:solidFill>
        <a:round/>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A20905-3954-474B-A606-562BCA026DC1}"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12A04B46-038B-7546-8289-D3AB9E0FE859}">
      <dgm:prSet/>
      <dgm:spPr/>
      <dgm:t>
        <a:bodyPr/>
        <a:lstStyle/>
        <a:p>
          <a:r>
            <a:rPr lang="en-US" dirty="0"/>
            <a:t>I. Presentation overview.</a:t>
          </a:r>
        </a:p>
        <a:p>
          <a:endParaRPr lang="en-US" dirty="0"/>
        </a:p>
        <a:p>
          <a:r>
            <a:rPr lang="en-US" dirty="0"/>
            <a:t>II. Data processing systems.</a:t>
          </a:r>
        </a:p>
        <a:p>
          <a:endParaRPr lang="en-US" dirty="0"/>
        </a:p>
        <a:p>
          <a:r>
            <a:rPr lang="en-US" dirty="0"/>
            <a:t>iii. Data Intelligence </a:t>
          </a:r>
        </a:p>
        <a:p>
          <a:endParaRPr lang="en-US" dirty="0"/>
        </a:p>
        <a:p>
          <a:endParaRPr lang="en-US" dirty="0"/>
        </a:p>
      </dgm:t>
    </dgm:pt>
    <dgm:pt modelId="{6BA68D9C-F510-3746-82AE-A2E995712A23}" type="parTrans" cxnId="{25DEE13A-05AA-8B4B-BFC9-E6AF54EF133D}">
      <dgm:prSet/>
      <dgm:spPr/>
      <dgm:t>
        <a:bodyPr/>
        <a:lstStyle/>
        <a:p>
          <a:endParaRPr lang="en-US"/>
        </a:p>
      </dgm:t>
    </dgm:pt>
    <dgm:pt modelId="{FB72C64B-B20C-3B4A-94AE-A0289EB34B43}" type="sibTrans" cxnId="{25DEE13A-05AA-8B4B-BFC9-E6AF54EF133D}">
      <dgm:prSet phldrT="01" phldr="0"/>
      <dgm:spPr/>
      <dgm:t>
        <a:bodyPr/>
        <a:lstStyle/>
        <a:p>
          <a:r>
            <a:rPr lang="en-US"/>
            <a:t>01</a:t>
          </a:r>
        </a:p>
      </dgm:t>
    </dgm:pt>
    <dgm:pt modelId="{942FFBF2-BF58-0243-A6F6-B4A49FB88DA4}">
      <dgm:prSet/>
      <dgm:spPr/>
      <dgm:t>
        <a:bodyPr/>
        <a:lstStyle/>
        <a:p>
          <a:r>
            <a:rPr lang="en-US" dirty="0"/>
            <a:t>IV. Project Execution Plan</a:t>
          </a:r>
        </a:p>
        <a:p>
          <a:endParaRPr lang="en-US" dirty="0"/>
        </a:p>
        <a:p>
          <a:r>
            <a:rPr lang="en-US" dirty="0"/>
            <a:t>V. Analytics driven strategic recommendations</a:t>
          </a:r>
        </a:p>
        <a:p>
          <a:endParaRPr lang="en-US" dirty="0"/>
        </a:p>
        <a:p>
          <a:r>
            <a:rPr lang="en-US" dirty="0"/>
            <a:t>VI. Stakeholder  Q &amp; A</a:t>
          </a:r>
        </a:p>
      </dgm:t>
    </dgm:pt>
    <dgm:pt modelId="{BE2A3B38-E596-3E42-83E3-A6B9F94E240E}" type="parTrans" cxnId="{5CDB5CFD-4753-884A-A72A-37AAE1F03F9B}">
      <dgm:prSet/>
      <dgm:spPr/>
      <dgm:t>
        <a:bodyPr/>
        <a:lstStyle/>
        <a:p>
          <a:endParaRPr lang="en-US"/>
        </a:p>
      </dgm:t>
    </dgm:pt>
    <dgm:pt modelId="{762F59C6-D70C-F146-AA95-AA999B9336CE}" type="sibTrans" cxnId="{5CDB5CFD-4753-884A-A72A-37AAE1F03F9B}">
      <dgm:prSet phldrT="02" phldr="0"/>
      <dgm:spPr/>
      <dgm:t>
        <a:bodyPr/>
        <a:lstStyle/>
        <a:p>
          <a:r>
            <a:rPr lang="en-US"/>
            <a:t>02</a:t>
          </a:r>
        </a:p>
      </dgm:t>
    </dgm:pt>
    <dgm:pt modelId="{579698BD-D232-4926-8D7B-29A69B90858B}" type="pres">
      <dgm:prSet presAssocID="{8AA20905-3954-474B-A606-562BCA026DC1}" presName="Name0" presStyleCnt="0">
        <dgm:presLayoutVars>
          <dgm:animLvl val="lvl"/>
          <dgm:resizeHandles val="exact"/>
        </dgm:presLayoutVars>
      </dgm:prSet>
      <dgm:spPr/>
    </dgm:pt>
    <dgm:pt modelId="{F9281E18-5CFA-814C-9755-C42121CABAC1}" type="pres">
      <dgm:prSet presAssocID="{12A04B46-038B-7546-8289-D3AB9E0FE859}" presName="compositeNode" presStyleCnt="0">
        <dgm:presLayoutVars>
          <dgm:bulletEnabled val="1"/>
        </dgm:presLayoutVars>
      </dgm:prSet>
      <dgm:spPr/>
    </dgm:pt>
    <dgm:pt modelId="{A3894AF2-2B77-854D-BD13-C6F45CC9A790}" type="pres">
      <dgm:prSet presAssocID="{12A04B46-038B-7546-8289-D3AB9E0FE859}" presName="bgRect" presStyleLbl="alignNode1" presStyleIdx="0" presStyleCnt="2" custLinFactNeighborX="405" custLinFactNeighborY="614"/>
      <dgm:spPr/>
    </dgm:pt>
    <dgm:pt modelId="{ED6BADC4-B334-2A4C-854E-E731ED189BD0}" type="pres">
      <dgm:prSet presAssocID="{FB72C64B-B20C-3B4A-94AE-A0289EB34B43}" presName="sibTransNodeRect" presStyleLbl="alignNode1" presStyleIdx="0" presStyleCnt="2">
        <dgm:presLayoutVars>
          <dgm:chMax val="0"/>
          <dgm:bulletEnabled val="1"/>
        </dgm:presLayoutVars>
      </dgm:prSet>
      <dgm:spPr/>
    </dgm:pt>
    <dgm:pt modelId="{F6291D16-5057-3D46-B679-7B7242D13D88}" type="pres">
      <dgm:prSet presAssocID="{12A04B46-038B-7546-8289-D3AB9E0FE859}" presName="nodeRect" presStyleLbl="alignNode1" presStyleIdx="0" presStyleCnt="2">
        <dgm:presLayoutVars>
          <dgm:bulletEnabled val="1"/>
        </dgm:presLayoutVars>
      </dgm:prSet>
      <dgm:spPr/>
    </dgm:pt>
    <dgm:pt modelId="{A3547FA4-4221-E04E-B66A-ABDDB387F37A}" type="pres">
      <dgm:prSet presAssocID="{FB72C64B-B20C-3B4A-94AE-A0289EB34B43}" presName="sibTrans" presStyleCnt="0"/>
      <dgm:spPr/>
    </dgm:pt>
    <dgm:pt modelId="{302C119A-5AB4-FC45-9DED-483130FE7C22}" type="pres">
      <dgm:prSet presAssocID="{942FFBF2-BF58-0243-A6F6-B4A49FB88DA4}" presName="compositeNode" presStyleCnt="0">
        <dgm:presLayoutVars>
          <dgm:bulletEnabled val="1"/>
        </dgm:presLayoutVars>
      </dgm:prSet>
      <dgm:spPr/>
    </dgm:pt>
    <dgm:pt modelId="{85C57E38-ECF1-F544-A2E0-6FB842CBF133}" type="pres">
      <dgm:prSet presAssocID="{942FFBF2-BF58-0243-A6F6-B4A49FB88DA4}" presName="bgRect" presStyleLbl="alignNode1" presStyleIdx="1" presStyleCnt="2"/>
      <dgm:spPr/>
    </dgm:pt>
    <dgm:pt modelId="{B344CA18-7615-0246-A621-C111FE4E882A}" type="pres">
      <dgm:prSet presAssocID="{762F59C6-D70C-F146-AA95-AA999B9336CE}" presName="sibTransNodeRect" presStyleLbl="alignNode1" presStyleIdx="1" presStyleCnt="2">
        <dgm:presLayoutVars>
          <dgm:chMax val="0"/>
          <dgm:bulletEnabled val="1"/>
        </dgm:presLayoutVars>
      </dgm:prSet>
      <dgm:spPr/>
    </dgm:pt>
    <dgm:pt modelId="{EB18D813-0663-1E42-9387-10522540F14B}" type="pres">
      <dgm:prSet presAssocID="{942FFBF2-BF58-0243-A6F6-B4A49FB88DA4}" presName="nodeRect" presStyleLbl="alignNode1" presStyleIdx="1" presStyleCnt="2">
        <dgm:presLayoutVars>
          <dgm:bulletEnabled val="1"/>
        </dgm:presLayoutVars>
      </dgm:prSet>
      <dgm:spPr/>
    </dgm:pt>
  </dgm:ptLst>
  <dgm:cxnLst>
    <dgm:cxn modelId="{F0396809-540D-C24F-8CE5-81358A26E542}" type="presOf" srcId="{942FFBF2-BF58-0243-A6F6-B4A49FB88DA4}" destId="{EB18D813-0663-1E42-9387-10522540F14B}" srcOrd="1" destOrd="0" presId="urn:microsoft.com/office/officeart/2016/7/layout/LinearBlockProcessNumbered"/>
    <dgm:cxn modelId="{9C92D233-1C33-B947-A73F-4F1C0C7506F2}" type="presOf" srcId="{12A04B46-038B-7546-8289-D3AB9E0FE859}" destId="{F6291D16-5057-3D46-B679-7B7242D13D88}" srcOrd="1" destOrd="0" presId="urn:microsoft.com/office/officeart/2016/7/layout/LinearBlockProcessNumbered"/>
    <dgm:cxn modelId="{25DEE13A-05AA-8B4B-BFC9-E6AF54EF133D}" srcId="{8AA20905-3954-474B-A606-562BCA026DC1}" destId="{12A04B46-038B-7546-8289-D3AB9E0FE859}" srcOrd="0" destOrd="0" parTransId="{6BA68D9C-F510-3746-82AE-A2E995712A23}" sibTransId="{FB72C64B-B20C-3B4A-94AE-A0289EB34B43}"/>
    <dgm:cxn modelId="{D9FD3441-A0FA-FD4A-9055-2B7BFF672DA1}" type="presOf" srcId="{762F59C6-D70C-F146-AA95-AA999B9336CE}" destId="{B344CA18-7615-0246-A621-C111FE4E882A}" srcOrd="0" destOrd="0" presId="urn:microsoft.com/office/officeart/2016/7/layout/LinearBlockProcessNumbered"/>
    <dgm:cxn modelId="{74BBF153-2694-8A47-B443-371FF0FFB7B9}" type="presOf" srcId="{942FFBF2-BF58-0243-A6F6-B4A49FB88DA4}" destId="{85C57E38-ECF1-F544-A2E0-6FB842CBF133}" srcOrd="0" destOrd="0" presId="urn:microsoft.com/office/officeart/2016/7/layout/LinearBlockProcessNumbered"/>
    <dgm:cxn modelId="{3582BB64-76C2-1944-9310-56821E2FB01C}" type="presOf" srcId="{FB72C64B-B20C-3B4A-94AE-A0289EB34B43}" destId="{ED6BADC4-B334-2A4C-854E-E731ED189BD0}" srcOrd="0" destOrd="0" presId="urn:microsoft.com/office/officeart/2016/7/layout/LinearBlockProcessNumbered"/>
    <dgm:cxn modelId="{0439566F-A180-439C-8FAE-14E400EF2DCF}" type="presOf" srcId="{8AA20905-3954-474B-A606-562BCA026DC1}" destId="{579698BD-D232-4926-8D7B-29A69B90858B}" srcOrd="0" destOrd="0" presId="urn:microsoft.com/office/officeart/2016/7/layout/LinearBlockProcessNumbered"/>
    <dgm:cxn modelId="{D5E5E9DB-694C-A148-B80B-32979ADC5760}" type="presOf" srcId="{12A04B46-038B-7546-8289-D3AB9E0FE859}" destId="{A3894AF2-2B77-854D-BD13-C6F45CC9A790}" srcOrd="0" destOrd="0" presId="urn:microsoft.com/office/officeart/2016/7/layout/LinearBlockProcessNumbered"/>
    <dgm:cxn modelId="{5CDB5CFD-4753-884A-A72A-37AAE1F03F9B}" srcId="{8AA20905-3954-474B-A606-562BCA026DC1}" destId="{942FFBF2-BF58-0243-A6F6-B4A49FB88DA4}" srcOrd="1" destOrd="0" parTransId="{BE2A3B38-E596-3E42-83E3-A6B9F94E240E}" sibTransId="{762F59C6-D70C-F146-AA95-AA999B9336CE}"/>
    <dgm:cxn modelId="{2550F555-490E-8344-BD5B-33F4D7D52B41}" type="presParOf" srcId="{579698BD-D232-4926-8D7B-29A69B90858B}" destId="{F9281E18-5CFA-814C-9755-C42121CABAC1}" srcOrd="0" destOrd="0" presId="urn:microsoft.com/office/officeart/2016/7/layout/LinearBlockProcessNumbered"/>
    <dgm:cxn modelId="{798CD9E3-DDFE-784E-9BEC-2D6827C23D1B}" type="presParOf" srcId="{F9281E18-5CFA-814C-9755-C42121CABAC1}" destId="{A3894AF2-2B77-854D-BD13-C6F45CC9A790}" srcOrd="0" destOrd="0" presId="urn:microsoft.com/office/officeart/2016/7/layout/LinearBlockProcessNumbered"/>
    <dgm:cxn modelId="{38E498B4-C193-CE42-B971-25EAB0B52A2F}" type="presParOf" srcId="{F9281E18-5CFA-814C-9755-C42121CABAC1}" destId="{ED6BADC4-B334-2A4C-854E-E731ED189BD0}" srcOrd="1" destOrd="0" presId="urn:microsoft.com/office/officeart/2016/7/layout/LinearBlockProcessNumbered"/>
    <dgm:cxn modelId="{DD4777C0-CF2B-3341-B679-C02A930BE9D7}" type="presParOf" srcId="{F9281E18-5CFA-814C-9755-C42121CABAC1}" destId="{F6291D16-5057-3D46-B679-7B7242D13D88}" srcOrd="2" destOrd="0" presId="urn:microsoft.com/office/officeart/2016/7/layout/LinearBlockProcessNumbered"/>
    <dgm:cxn modelId="{5759B07E-3277-5443-AA32-3FA207C595C1}" type="presParOf" srcId="{579698BD-D232-4926-8D7B-29A69B90858B}" destId="{A3547FA4-4221-E04E-B66A-ABDDB387F37A}" srcOrd="1" destOrd="0" presId="urn:microsoft.com/office/officeart/2016/7/layout/LinearBlockProcessNumbered"/>
    <dgm:cxn modelId="{4BCDD403-0BEA-B547-BB9D-16D20C536683}" type="presParOf" srcId="{579698BD-D232-4926-8D7B-29A69B90858B}" destId="{302C119A-5AB4-FC45-9DED-483130FE7C22}" srcOrd="2" destOrd="0" presId="urn:microsoft.com/office/officeart/2016/7/layout/LinearBlockProcessNumbered"/>
    <dgm:cxn modelId="{DDB6399A-948B-1F43-939E-6304E997F220}" type="presParOf" srcId="{302C119A-5AB4-FC45-9DED-483130FE7C22}" destId="{85C57E38-ECF1-F544-A2E0-6FB842CBF133}" srcOrd="0" destOrd="0" presId="urn:microsoft.com/office/officeart/2016/7/layout/LinearBlockProcessNumbered"/>
    <dgm:cxn modelId="{3FB6AB21-CB40-3C40-9A0D-2CBEF17F6F06}" type="presParOf" srcId="{302C119A-5AB4-FC45-9DED-483130FE7C22}" destId="{B344CA18-7615-0246-A621-C111FE4E882A}" srcOrd="1" destOrd="0" presId="urn:microsoft.com/office/officeart/2016/7/layout/LinearBlockProcessNumbered"/>
    <dgm:cxn modelId="{E8CE81D2-FF4F-9148-9535-19669E6E6B62}" type="presParOf" srcId="{302C119A-5AB4-FC45-9DED-483130FE7C22}" destId="{EB18D813-0663-1E42-9387-10522540F14B}"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894AF2-2B77-854D-BD13-C6F45CC9A790}">
      <dsp:nvSpPr>
        <dsp:cNvPr id="0" name=""/>
        <dsp:cNvSpPr/>
      </dsp:nvSpPr>
      <dsp:spPr>
        <a:xfrm>
          <a:off x="25725" y="0"/>
          <a:ext cx="5473142" cy="5190158"/>
        </a:xfrm>
        <a:prstGeom prst="rect">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40625" tIns="0" rIns="540625" bIns="330200" numCol="1" spcCol="1270" anchor="t" anchorCtr="0">
          <a:noAutofit/>
        </a:bodyPr>
        <a:lstStyle/>
        <a:p>
          <a:pPr marL="0" lvl="0" indent="0" algn="l" defTabSz="933450">
            <a:lnSpc>
              <a:spcPct val="90000"/>
            </a:lnSpc>
            <a:spcBef>
              <a:spcPct val="0"/>
            </a:spcBef>
            <a:spcAft>
              <a:spcPct val="35000"/>
            </a:spcAft>
            <a:buNone/>
          </a:pPr>
          <a:r>
            <a:rPr lang="en-US" sz="2100" kern="1200" dirty="0"/>
            <a:t>I. Presentation overview.</a:t>
          </a:r>
        </a:p>
        <a:p>
          <a:pPr marL="0" lvl="0" indent="0" algn="l" defTabSz="933450">
            <a:lnSpc>
              <a:spcPct val="90000"/>
            </a:lnSpc>
            <a:spcBef>
              <a:spcPct val="0"/>
            </a:spcBef>
            <a:spcAft>
              <a:spcPct val="35000"/>
            </a:spcAft>
            <a:buNone/>
          </a:pPr>
          <a:endParaRPr lang="en-US" sz="2100" kern="1200" dirty="0"/>
        </a:p>
        <a:p>
          <a:pPr marL="0" lvl="0" indent="0" algn="l" defTabSz="933450">
            <a:lnSpc>
              <a:spcPct val="90000"/>
            </a:lnSpc>
            <a:spcBef>
              <a:spcPct val="0"/>
            </a:spcBef>
            <a:spcAft>
              <a:spcPct val="35000"/>
            </a:spcAft>
            <a:buNone/>
          </a:pPr>
          <a:r>
            <a:rPr lang="en-US" sz="2100" kern="1200" dirty="0"/>
            <a:t>II. Data processing systems.</a:t>
          </a:r>
        </a:p>
        <a:p>
          <a:pPr marL="0" lvl="0" indent="0" algn="l" defTabSz="933450">
            <a:lnSpc>
              <a:spcPct val="90000"/>
            </a:lnSpc>
            <a:spcBef>
              <a:spcPct val="0"/>
            </a:spcBef>
            <a:spcAft>
              <a:spcPct val="35000"/>
            </a:spcAft>
            <a:buNone/>
          </a:pPr>
          <a:endParaRPr lang="en-US" sz="2100" kern="1200" dirty="0"/>
        </a:p>
        <a:p>
          <a:pPr marL="0" lvl="0" indent="0" algn="l" defTabSz="933450">
            <a:lnSpc>
              <a:spcPct val="90000"/>
            </a:lnSpc>
            <a:spcBef>
              <a:spcPct val="0"/>
            </a:spcBef>
            <a:spcAft>
              <a:spcPct val="35000"/>
            </a:spcAft>
            <a:buNone/>
          </a:pPr>
          <a:r>
            <a:rPr lang="en-US" sz="2100" kern="1200" dirty="0"/>
            <a:t>iii. Data Intelligence </a:t>
          </a:r>
        </a:p>
        <a:p>
          <a:pPr marL="0" lvl="0" indent="0" algn="l" defTabSz="933450">
            <a:lnSpc>
              <a:spcPct val="90000"/>
            </a:lnSpc>
            <a:spcBef>
              <a:spcPct val="0"/>
            </a:spcBef>
            <a:spcAft>
              <a:spcPct val="35000"/>
            </a:spcAft>
            <a:buNone/>
          </a:pPr>
          <a:endParaRPr lang="en-US" sz="2100" kern="1200" dirty="0"/>
        </a:p>
        <a:p>
          <a:pPr marL="0" lvl="0" indent="0" algn="l" defTabSz="933450">
            <a:lnSpc>
              <a:spcPct val="90000"/>
            </a:lnSpc>
            <a:spcBef>
              <a:spcPct val="0"/>
            </a:spcBef>
            <a:spcAft>
              <a:spcPct val="35000"/>
            </a:spcAft>
            <a:buNone/>
          </a:pPr>
          <a:endParaRPr lang="en-US" sz="2100" kern="1200" dirty="0"/>
        </a:p>
      </dsp:txBody>
      <dsp:txXfrm>
        <a:off x="25725" y="2076063"/>
        <a:ext cx="5473142" cy="3114094"/>
      </dsp:txXfrm>
    </dsp:sp>
    <dsp:sp modelId="{ED6BADC4-B334-2A4C-854E-E731ED189BD0}">
      <dsp:nvSpPr>
        <dsp:cNvPr id="0" name=""/>
        <dsp:cNvSpPr/>
      </dsp:nvSpPr>
      <dsp:spPr>
        <a:xfrm>
          <a:off x="3559" y="0"/>
          <a:ext cx="5473142" cy="2076063"/>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540625" tIns="165100" rIns="540625"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3559" y="0"/>
        <a:ext cx="5473142" cy="2076063"/>
      </dsp:txXfrm>
    </dsp:sp>
    <dsp:sp modelId="{85C57E38-ECF1-F544-A2E0-6FB842CBF133}">
      <dsp:nvSpPr>
        <dsp:cNvPr id="0" name=""/>
        <dsp:cNvSpPr/>
      </dsp:nvSpPr>
      <dsp:spPr>
        <a:xfrm>
          <a:off x="5914553" y="0"/>
          <a:ext cx="5473142" cy="5190158"/>
        </a:xfrm>
        <a:prstGeom prst="rect">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40625" tIns="0" rIns="540625" bIns="330200" numCol="1" spcCol="1270" anchor="t" anchorCtr="0">
          <a:noAutofit/>
        </a:bodyPr>
        <a:lstStyle/>
        <a:p>
          <a:pPr marL="0" lvl="0" indent="0" algn="l" defTabSz="933450">
            <a:lnSpc>
              <a:spcPct val="90000"/>
            </a:lnSpc>
            <a:spcBef>
              <a:spcPct val="0"/>
            </a:spcBef>
            <a:spcAft>
              <a:spcPct val="35000"/>
            </a:spcAft>
            <a:buNone/>
          </a:pPr>
          <a:r>
            <a:rPr lang="en-US" sz="2100" kern="1200" dirty="0"/>
            <a:t>IV. Project Execution Plan</a:t>
          </a:r>
        </a:p>
        <a:p>
          <a:pPr marL="0" lvl="0" indent="0" algn="l" defTabSz="933450">
            <a:lnSpc>
              <a:spcPct val="90000"/>
            </a:lnSpc>
            <a:spcBef>
              <a:spcPct val="0"/>
            </a:spcBef>
            <a:spcAft>
              <a:spcPct val="35000"/>
            </a:spcAft>
            <a:buNone/>
          </a:pPr>
          <a:endParaRPr lang="en-US" sz="2100" kern="1200" dirty="0"/>
        </a:p>
        <a:p>
          <a:pPr marL="0" lvl="0" indent="0" algn="l" defTabSz="933450">
            <a:lnSpc>
              <a:spcPct val="90000"/>
            </a:lnSpc>
            <a:spcBef>
              <a:spcPct val="0"/>
            </a:spcBef>
            <a:spcAft>
              <a:spcPct val="35000"/>
            </a:spcAft>
            <a:buNone/>
          </a:pPr>
          <a:r>
            <a:rPr lang="en-US" sz="2100" kern="1200" dirty="0"/>
            <a:t>V. Analytics driven strategic recommendations</a:t>
          </a:r>
        </a:p>
        <a:p>
          <a:pPr marL="0" lvl="0" indent="0" algn="l" defTabSz="933450">
            <a:lnSpc>
              <a:spcPct val="90000"/>
            </a:lnSpc>
            <a:spcBef>
              <a:spcPct val="0"/>
            </a:spcBef>
            <a:spcAft>
              <a:spcPct val="35000"/>
            </a:spcAft>
            <a:buNone/>
          </a:pPr>
          <a:endParaRPr lang="en-US" sz="2100" kern="1200" dirty="0"/>
        </a:p>
        <a:p>
          <a:pPr marL="0" lvl="0" indent="0" algn="l" defTabSz="933450">
            <a:lnSpc>
              <a:spcPct val="90000"/>
            </a:lnSpc>
            <a:spcBef>
              <a:spcPct val="0"/>
            </a:spcBef>
            <a:spcAft>
              <a:spcPct val="35000"/>
            </a:spcAft>
            <a:buNone/>
          </a:pPr>
          <a:r>
            <a:rPr lang="en-US" sz="2100" kern="1200" dirty="0"/>
            <a:t>VI. Stakeholder  Q &amp; A</a:t>
          </a:r>
        </a:p>
      </dsp:txBody>
      <dsp:txXfrm>
        <a:off x="5914553" y="2076063"/>
        <a:ext cx="5473142" cy="3114094"/>
      </dsp:txXfrm>
    </dsp:sp>
    <dsp:sp modelId="{B344CA18-7615-0246-A621-C111FE4E882A}">
      <dsp:nvSpPr>
        <dsp:cNvPr id="0" name=""/>
        <dsp:cNvSpPr/>
      </dsp:nvSpPr>
      <dsp:spPr>
        <a:xfrm>
          <a:off x="5914553" y="0"/>
          <a:ext cx="5473142" cy="2076063"/>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540625" tIns="165100" rIns="540625"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5914553" y="0"/>
        <a:ext cx="5473142" cy="2076063"/>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0.74273</cdr:x>
      <cdr:y>0.62507</cdr:y>
    </cdr:from>
    <cdr:to>
      <cdr:x>0.98855</cdr:x>
      <cdr:y>0.88575</cdr:y>
    </cdr:to>
    <cdr:sp macro="" textlink="">
      <cdr:nvSpPr>
        <cdr:cNvPr id="2" name="TextBox 1">
          <a:extLst xmlns:a="http://schemas.openxmlformats.org/drawingml/2006/main">
            <a:ext uri="{FF2B5EF4-FFF2-40B4-BE49-F238E27FC236}">
              <a16:creationId xmlns:a16="http://schemas.microsoft.com/office/drawing/2014/main" id="{987A007E-BC3E-DCEB-87A2-F34EA163C95B}"/>
            </a:ext>
          </a:extLst>
        </cdr:cNvPr>
        <cdr:cNvSpPr txBox="1"/>
      </cdr:nvSpPr>
      <cdr:spPr>
        <a:xfrm xmlns:a="http://schemas.openxmlformats.org/drawingml/2006/main">
          <a:off x="8710048" y="3010115"/>
          <a:ext cx="2882684" cy="1255363"/>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0.78899</cdr:x>
      <cdr:y>0.55426</cdr:y>
    </cdr:from>
    <cdr:to>
      <cdr:x>0.97533</cdr:x>
      <cdr:y>0.77633</cdr:y>
    </cdr:to>
    <cdr:sp macro="" textlink="">
      <cdr:nvSpPr>
        <cdr:cNvPr id="3" name="TextBox 2">
          <a:extLst xmlns:a="http://schemas.openxmlformats.org/drawingml/2006/main">
            <a:ext uri="{FF2B5EF4-FFF2-40B4-BE49-F238E27FC236}">
              <a16:creationId xmlns:a16="http://schemas.microsoft.com/office/drawing/2014/main" id="{78E4681C-2B82-2B53-E925-34EC4CE1332B}"/>
            </a:ext>
          </a:extLst>
        </cdr:cNvPr>
        <cdr:cNvSpPr txBox="1"/>
      </cdr:nvSpPr>
      <cdr:spPr>
        <a:xfrm xmlns:a="http://schemas.openxmlformats.org/drawingml/2006/main">
          <a:off x="9252487" y="2669152"/>
          <a:ext cx="2185261" cy="1069383"/>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0.73216</cdr:x>
      <cdr:y>0.49312</cdr:y>
    </cdr:from>
    <cdr:to>
      <cdr:x>1</cdr:x>
      <cdr:y>0.9469</cdr:y>
    </cdr:to>
    <cdr:sp macro="" textlink="">
      <cdr:nvSpPr>
        <cdr:cNvPr id="4" name="TextBox 3">
          <a:extLst xmlns:a="http://schemas.openxmlformats.org/drawingml/2006/main">
            <a:ext uri="{FF2B5EF4-FFF2-40B4-BE49-F238E27FC236}">
              <a16:creationId xmlns:a16="http://schemas.microsoft.com/office/drawing/2014/main" id="{356E98C8-083C-A219-DE43-8C356BD703EA}"/>
            </a:ext>
          </a:extLst>
        </cdr:cNvPr>
        <cdr:cNvSpPr txBox="1"/>
      </cdr:nvSpPr>
      <cdr:spPr>
        <a:xfrm xmlns:a="http://schemas.openxmlformats.org/drawingml/2006/main">
          <a:off x="8586061" y="2374684"/>
          <a:ext cx="3140990" cy="2185261"/>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2000" kern="1200" dirty="0">
              <a:solidFill>
                <a:schemeClr val="tx1"/>
              </a:solidFill>
            </a:rPr>
            <a:t>Hot chocolate </a:t>
          </a:r>
        </a:p>
        <a:p xmlns:a="http://schemas.openxmlformats.org/drawingml/2006/main">
          <a:endParaRPr lang="en-US" sz="2000" kern="1200" dirty="0">
            <a:solidFill>
              <a:schemeClr val="tx1"/>
            </a:solidFill>
          </a:endParaRPr>
        </a:p>
        <a:p xmlns:a="http://schemas.openxmlformats.org/drawingml/2006/main">
          <a:r>
            <a:rPr lang="en-US" sz="2000" kern="1200" dirty="0">
              <a:solidFill>
                <a:schemeClr val="tx1"/>
              </a:solidFill>
            </a:rPr>
            <a:t>Drinking Chocolate</a:t>
          </a:r>
        </a:p>
        <a:p xmlns:a="http://schemas.openxmlformats.org/drawingml/2006/main">
          <a:endParaRPr lang="en-US" sz="2000" kern="1200" dirty="0">
            <a:solidFill>
              <a:schemeClr val="tx1"/>
            </a:solidFill>
          </a:endParaRPr>
        </a:p>
        <a:p xmlns:a="http://schemas.openxmlformats.org/drawingml/2006/main">
          <a:r>
            <a:rPr lang="en-US" sz="2000" kern="1200" dirty="0">
              <a:solidFill>
                <a:schemeClr val="tx1"/>
              </a:solidFill>
            </a:rPr>
            <a:t>Sustainably grown organic Lg</a:t>
          </a:r>
        </a:p>
        <a:p xmlns:a="http://schemas.openxmlformats.org/drawingml/2006/main">
          <a:endParaRPr lang="en-US" sz="2000" kern="1200" dirty="0">
            <a:solidFill>
              <a:schemeClr val="tx1"/>
            </a:solidFill>
          </a:endParaRPr>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3/29/26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52525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3/29/26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85865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3/29/26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26486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3/29/26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517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3/29/26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8887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3/29/26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64888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3/29/26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5916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3/29/26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96479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3/29/26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6378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3/29/26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14665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3/29/26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1205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3/29/26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805943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3/29/26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8836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3/29/26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87406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3/29/26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62302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3/29/26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94158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3/29/26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4527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3/29/26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069802776"/>
      </p:ext>
    </p:extLst>
  </p:cSld>
  <p:clrMap bg1="dk1" tx1="lt1" bg2="dk2" tx2="lt2" accent1="accent1" accent2="accent2" accent3="accent3" accent4="accent4" accent5="accent5" accent6="accent6" hlink="hlink" folHlink="folHlink"/>
  <p:sldLayoutIdLst>
    <p:sldLayoutId id="2147483713" r:id="rId1"/>
    <p:sldLayoutId id="2147483715" r:id="rId2"/>
    <p:sldLayoutId id="2147483716" r:id="rId3"/>
    <p:sldLayoutId id="2147483714" r:id="rId4"/>
    <p:sldLayoutId id="2147483710" r:id="rId5"/>
    <p:sldLayoutId id="2147483694" r:id="rId6"/>
    <p:sldLayoutId id="2147483695" r:id="rId7"/>
    <p:sldLayoutId id="2147483696" r:id="rId8"/>
    <p:sldLayoutId id="2147483697" r:id="rId9"/>
    <p:sldLayoutId id="2147483699" r:id="rId10"/>
    <p:sldLayoutId id="2147483693" r:id="rId11"/>
    <p:sldLayoutId id="2147483700" r:id="rId12"/>
    <p:sldLayoutId id="2147483701" r:id="rId13"/>
    <p:sldLayoutId id="2147483703" r:id="rId14"/>
    <p:sldLayoutId id="2147483704" r:id="rId15"/>
    <p:sldLayoutId id="2147483702" r:id="rId16"/>
    <p:sldLayoutId id="2147483698" r:id="rId17"/>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B93FB3F-A8D4-46D3-A1C6-C79C64563729}"/>
              </a:ext>
            </a:extLst>
          </p:cNvPr>
          <p:cNvSpPr>
            <a:spLocks noGrp="1"/>
          </p:cNvSpPr>
          <p:nvPr>
            <p:ph type="title"/>
          </p:nvPr>
        </p:nvSpPr>
        <p:spPr>
          <a:xfrm flipV="1">
            <a:off x="913806" y="5791199"/>
            <a:ext cx="10355326" cy="718087"/>
          </a:xfrm>
        </p:spPr>
        <p:txBody>
          <a:bodyPr anchor="b">
            <a:normAutofit/>
          </a:bodyPr>
          <a:lstStyle/>
          <a:p>
            <a:r>
              <a:rPr lang="en-US" dirty="0"/>
              <a:t>ss </a:t>
            </a:r>
          </a:p>
        </p:txBody>
      </p:sp>
      <p:sp>
        <p:nvSpPr>
          <p:cNvPr id="9" name="Text Placeholder 3">
            <a:extLst>
              <a:ext uri="{FF2B5EF4-FFF2-40B4-BE49-F238E27FC236}">
                <a16:creationId xmlns:a16="http://schemas.microsoft.com/office/drawing/2014/main" id="{9DA132D5-EF83-DB48-79B2-AF900C39BA79}"/>
              </a:ext>
            </a:extLst>
          </p:cNvPr>
          <p:cNvSpPr>
            <a:spLocks noGrp="1"/>
          </p:cNvSpPr>
          <p:nvPr>
            <p:ph type="body" sz="half" idx="2"/>
          </p:nvPr>
        </p:nvSpPr>
        <p:spPr>
          <a:xfrm>
            <a:off x="913795" y="5247728"/>
            <a:ext cx="10353762" cy="543472"/>
          </a:xfrm>
        </p:spPr>
        <p:txBody>
          <a:bodyPr/>
          <a:lstStyle/>
          <a:p>
            <a:endParaRPr lang="en-US"/>
          </a:p>
        </p:txBody>
      </p:sp>
      <p:pic>
        <p:nvPicPr>
          <p:cNvPr id="2" name="Picture 1">
            <a:extLst>
              <a:ext uri="{FF2B5EF4-FFF2-40B4-BE49-F238E27FC236}">
                <a16:creationId xmlns:a16="http://schemas.microsoft.com/office/drawing/2014/main" id="{88B61722-48C9-8758-FC98-425A07BC4259}"/>
              </a:ext>
            </a:extLst>
          </p:cNvPr>
          <p:cNvPicPr>
            <a:picLocks noChangeAspect="1"/>
          </p:cNvPicPr>
          <p:nvPr/>
        </p:nvPicPr>
        <p:blipFill>
          <a:blip r:embed="rId2"/>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38CBB4D7-C37D-2321-3CFC-F581519C72BC}"/>
              </a:ext>
            </a:extLst>
          </p:cNvPr>
          <p:cNvSpPr txBox="1"/>
          <p:nvPr/>
        </p:nvSpPr>
        <p:spPr>
          <a:xfrm>
            <a:off x="216976" y="5791198"/>
            <a:ext cx="4990455" cy="954107"/>
          </a:xfrm>
          <a:prstGeom prst="rect">
            <a:avLst/>
          </a:prstGeom>
          <a:noFill/>
        </p:spPr>
        <p:txBody>
          <a:bodyPr wrap="square" rtlCol="0">
            <a:spAutoFit/>
          </a:bodyPr>
          <a:lstStyle/>
          <a:p>
            <a:r>
              <a:rPr lang="en-US" sz="2800" dirty="0">
                <a:solidFill>
                  <a:srgbClr val="FFC000"/>
                </a:solidFill>
              </a:rPr>
              <a:t>Revenue Analysis by Ishe Anopa consultants </a:t>
            </a:r>
          </a:p>
        </p:txBody>
      </p:sp>
      <p:sp>
        <p:nvSpPr>
          <p:cNvPr id="8" name="Rectangle 7">
            <a:extLst>
              <a:ext uri="{FF2B5EF4-FFF2-40B4-BE49-F238E27FC236}">
                <a16:creationId xmlns:a16="http://schemas.microsoft.com/office/drawing/2014/main" id="{E6AC8CC3-8D30-52BE-D816-B89C184E367C}"/>
              </a:ext>
            </a:extLst>
          </p:cNvPr>
          <p:cNvSpPr/>
          <p:nvPr/>
        </p:nvSpPr>
        <p:spPr>
          <a:xfrm>
            <a:off x="14196447" y="4813994"/>
            <a:ext cx="3766088" cy="923330"/>
          </a:xfrm>
          <a:prstGeom prst="rect">
            <a:avLst/>
          </a:prstGeom>
          <a:noFill/>
        </p:spPr>
        <p:txBody>
          <a:bodyPr wrap="square" lIns="91440" tIns="45720" rIns="91440" bIns="45720">
            <a:spAutoFit/>
          </a:bodyPr>
          <a:lstStyle/>
          <a:p>
            <a:pPr algn="ctr"/>
            <a:r>
              <a:rPr lang="en-US" sz="5400" b="1" cap="none" spc="0" dirty="0" err="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ext</a:t>
            </a: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 here</a:t>
            </a:r>
          </a:p>
        </p:txBody>
      </p:sp>
    </p:spTree>
    <p:extLst>
      <p:ext uri="{BB962C8B-B14F-4D97-AF65-F5344CB8AC3E}">
        <p14:creationId xmlns:p14="http://schemas.microsoft.com/office/powerpoint/2010/main" val="633738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A748D-BEEC-43A4-BFF3-B31C0275A5D9}"/>
              </a:ext>
            </a:extLst>
          </p:cNvPr>
          <p:cNvSpPr>
            <a:spLocks noGrp="1"/>
          </p:cNvSpPr>
          <p:nvPr>
            <p:ph type="title"/>
          </p:nvPr>
        </p:nvSpPr>
        <p:spPr>
          <a:xfrm>
            <a:off x="913795" y="609600"/>
            <a:ext cx="10353762" cy="1257300"/>
          </a:xfrm>
        </p:spPr>
        <p:txBody>
          <a:bodyPr>
            <a:normAutofit/>
          </a:bodyPr>
          <a:lstStyle/>
          <a:p>
            <a:r>
              <a:rPr lang="en-US" u="sng" dirty="0"/>
              <a:t>Table of Content</a:t>
            </a:r>
          </a:p>
        </p:txBody>
      </p:sp>
      <p:graphicFrame>
        <p:nvGraphicFramePr>
          <p:cNvPr id="4" name="Content Placeholder 2">
            <a:extLst>
              <a:ext uri="{FF2B5EF4-FFF2-40B4-BE49-F238E27FC236}">
                <a16:creationId xmlns:a16="http://schemas.microsoft.com/office/drawing/2014/main" id="{AED04DAF-1E3F-4397-8834-E64118E9B2CD}"/>
              </a:ext>
            </a:extLst>
          </p:cNvPr>
          <p:cNvGraphicFramePr>
            <a:graphicFrameLocks noGrp="1"/>
          </p:cNvGraphicFramePr>
          <p:nvPr>
            <p:ph idx="1"/>
            <p:extLst>
              <p:ext uri="{D42A27DB-BD31-4B8C-83A1-F6EECF244321}">
                <p14:modId xmlns:p14="http://schemas.microsoft.com/office/powerpoint/2010/main" val="2678965124"/>
              </p:ext>
            </p:extLst>
          </p:nvPr>
        </p:nvGraphicFramePr>
        <p:xfrm>
          <a:off x="170481" y="1658319"/>
          <a:ext cx="11391255" cy="51901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89089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9C79-E8D0-3E00-FED0-A8D6660A5966}"/>
              </a:ext>
            </a:extLst>
          </p:cNvPr>
          <p:cNvSpPr>
            <a:spLocks noGrp="1"/>
          </p:cNvSpPr>
          <p:nvPr>
            <p:ph type="title"/>
          </p:nvPr>
        </p:nvSpPr>
        <p:spPr/>
        <p:txBody>
          <a:bodyPr>
            <a:normAutofit/>
          </a:bodyPr>
          <a:lstStyle/>
          <a:p>
            <a:r>
              <a:rPr lang="en-ZA" sz="5400" dirty="0">
                <a:solidFill>
                  <a:srgbClr val="FFC000"/>
                </a:solidFill>
              </a:rPr>
              <a:t>Presentation overview </a:t>
            </a:r>
          </a:p>
        </p:txBody>
      </p:sp>
      <p:sp>
        <p:nvSpPr>
          <p:cNvPr id="3" name="Text Placeholder 2">
            <a:extLst>
              <a:ext uri="{FF2B5EF4-FFF2-40B4-BE49-F238E27FC236}">
                <a16:creationId xmlns:a16="http://schemas.microsoft.com/office/drawing/2014/main" id="{DDD0896C-45B7-A27A-183A-F40576809904}"/>
              </a:ext>
            </a:extLst>
          </p:cNvPr>
          <p:cNvSpPr>
            <a:spLocks noGrp="1"/>
          </p:cNvSpPr>
          <p:nvPr>
            <p:ph type="body" idx="1"/>
          </p:nvPr>
        </p:nvSpPr>
        <p:spPr>
          <a:xfrm>
            <a:off x="913795" y="1364105"/>
            <a:ext cx="3300984" cy="1169234"/>
          </a:xfrm>
        </p:spPr>
        <p:txBody>
          <a:bodyPr/>
          <a:lstStyle/>
          <a:p>
            <a:r>
              <a:rPr lang="en-GB" sz="2800" dirty="0">
                <a:solidFill>
                  <a:srgbClr val="FF0000"/>
                </a:solidFill>
              </a:rPr>
              <a:t> </a:t>
            </a:r>
            <a:endParaRPr lang="en-ZA" sz="2800" dirty="0">
              <a:solidFill>
                <a:srgbClr val="FF0000"/>
              </a:solidFill>
            </a:endParaRPr>
          </a:p>
        </p:txBody>
      </p:sp>
      <p:sp>
        <p:nvSpPr>
          <p:cNvPr id="4" name="Text Placeholder 3">
            <a:extLst>
              <a:ext uri="{FF2B5EF4-FFF2-40B4-BE49-F238E27FC236}">
                <a16:creationId xmlns:a16="http://schemas.microsoft.com/office/drawing/2014/main" id="{EFB74752-4EEC-1A93-1500-F0317B377005}"/>
              </a:ext>
            </a:extLst>
          </p:cNvPr>
          <p:cNvSpPr>
            <a:spLocks noGrp="1"/>
          </p:cNvSpPr>
          <p:nvPr>
            <p:ph type="body" sz="half" idx="15"/>
          </p:nvPr>
        </p:nvSpPr>
        <p:spPr>
          <a:xfrm>
            <a:off x="511444" y="2650732"/>
            <a:ext cx="5362414" cy="2843163"/>
          </a:xfrm>
        </p:spPr>
        <p:txBody>
          <a:bodyPr>
            <a:normAutofit/>
          </a:bodyPr>
          <a:lstStyle/>
          <a:p>
            <a:pPr marL="285750" indent="-285750">
              <a:buFont typeface="Wingdings" panose="05000000000000000000" pitchFamily="2" charset="2"/>
              <a:buChar char="v"/>
            </a:pPr>
            <a:r>
              <a:rPr lang="en-GB" sz="1800" dirty="0"/>
              <a:t>Mandated to conduct a comprehensive sales analysis for Bright Coffee Shop, using transactional data captured between 1 January 2023- 30 June 2023.  The project was undertaken to transform raw data into actionable business intelligence to support decision making at executive level</a:t>
            </a:r>
          </a:p>
        </p:txBody>
      </p:sp>
      <p:sp>
        <p:nvSpPr>
          <p:cNvPr id="5" name="Text Placeholder 4">
            <a:extLst>
              <a:ext uri="{FF2B5EF4-FFF2-40B4-BE49-F238E27FC236}">
                <a16:creationId xmlns:a16="http://schemas.microsoft.com/office/drawing/2014/main" id="{3BCDA6DD-F749-045C-F38F-42B79F8BA1AF}"/>
              </a:ext>
            </a:extLst>
          </p:cNvPr>
          <p:cNvSpPr>
            <a:spLocks noGrp="1"/>
          </p:cNvSpPr>
          <p:nvPr>
            <p:ph type="body" sz="quarter" idx="3"/>
          </p:nvPr>
        </p:nvSpPr>
        <p:spPr/>
        <p:txBody>
          <a:bodyPr/>
          <a:lstStyle/>
          <a:p>
            <a:r>
              <a:rPr lang="en-ZA" sz="2800" dirty="0">
                <a:solidFill>
                  <a:srgbClr val="FF0000"/>
                </a:solidFill>
              </a:rPr>
              <a:t>Summary</a:t>
            </a:r>
          </a:p>
        </p:txBody>
      </p:sp>
      <p:sp>
        <p:nvSpPr>
          <p:cNvPr id="7" name="Text Placeholder 6">
            <a:extLst>
              <a:ext uri="{FF2B5EF4-FFF2-40B4-BE49-F238E27FC236}">
                <a16:creationId xmlns:a16="http://schemas.microsoft.com/office/drawing/2014/main" id="{BC33A7CF-D923-0AF6-6F13-B1EE86F1A29D}"/>
              </a:ext>
            </a:extLst>
          </p:cNvPr>
          <p:cNvSpPr>
            <a:spLocks noGrp="1"/>
          </p:cNvSpPr>
          <p:nvPr>
            <p:ph type="body" sz="quarter" idx="13"/>
          </p:nvPr>
        </p:nvSpPr>
        <p:spPr>
          <a:xfrm flipH="1">
            <a:off x="7742419" y="1885950"/>
            <a:ext cx="3814997" cy="764782"/>
          </a:xfrm>
        </p:spPr>
        <p:txBody>
          <a:bodyPr/>
          <a:lstStyle/>
          <a:p>
            <a:r>
              <a:rPr lang="en-GB" sz="3600" dirty="0">
                <a:solidFill>
                  <a:srgbClr val="FF0000"/>
                </a:solidFill>
              </a:rPr>
              <a:t> </a:t>
            </a:r>
            <a:endParaRPr lang="en-ZA" sz="3600" dirty="0">
              <a:solidFill>
                <a:srgbClr val="FF0000"/>
              </a:solidFill>
            </a:endParaRPr>
          </a:p>
        </p:txBody>
      </p:sp>
      <p:sp>
        <p:nvSpPr>
          <p:cNvPr id="8" name="Text Placeholder 7">
            <a:extLst>
              <a:ext uri="{FF2B5EF4-FFF2-40B4-BE49-F238E27FC236}">
                <a16:creationId xmlns:a16="http://schemas.microsoft.com/office/drawing/2014/main" id="{6FCB3D43-7A75-B8DA-291D-CAD0D86EA9A5}"/>
              </a:ext>
            </a:extLst>
          </p:cNvPr>
          <p:cNvSpPr>
            <a:spLocks noGrp="1"/>
          </p:cNvSpPr>
          <p:nvPr>
            <p:ph type="body" sz="half" idx="17"/>
          </p:nvPr>
        </p:nvSpPr>
        <p:spPr>
          <a:xfrm>
            <a:off x="7346197" y="2650732"/>
            <a:ext cx="4541003" cy="3440102"/>
          </a:xfrm>
        </p:spPr>
        <p:txBody>
          <a:bodyPr>
            <a:normAutofit/>
          </a:bodyPr>
          <a:lstStyle/>
          <a:p>
            <a:pPr marL="285750" indent="-285750">
              <a:buFont typeface="Arial" panose="020B0604020202020204" pitchFamily="34" charset="0"/>
              <a:buChar char="•"/>
            </a:pPr>
            <a:r>
              <a:rPr lang="en-GB" sz="1800" dirty="0"/>
              <a:t>The primary  objective is not only to report historical performances , but extract insights that inform incoming execs vision to scale and grow the business sustainably. The findings highlighted key opportunities for revenue optimisation, customer behaviour and operational improvements, creative growth initiatives designed to strengthen Bright market position.</a:t>
            </a:r>
          </a:p>
        </p:txBody>
      </p:sp>
    </p:spTree>
    <p:extLst>
      <p:ext uri="{BB962C8B-B14F-4D97-AF65-F5344CB8AC3E}">
        <p14:creationId xmlns:p14="http://schemas.microsoft.com/office/powerpoint/2010/main" val="1204733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38DD5E4-3584-625E-19CE-0683900D9F4E}"/>
              </a:ext>
            </a:extLst>
          </p:cNvPr>
          <p:cNvSpPr>
            <a:spLocks noGrp="1"/>
          </p:cNvSpPr>
          <p:nvPr>
            <p:ph type="title"/>
          </p:nvPr>
        </p:nvSpPr>
        <p:spPr>
          <a:xfrm>
            <a:off x="913795" y="609600"/>
            <a:ext cx="10353762" cy="1257300"/>
          </a:xfrm>
        </p:spPr>
        <p:txBody>
          <a:bodyPr/>
          <a:lstStyle/>
          <a:p>
            <a:r>
              <a:rPr lang="en-US" dirty="0">
                <a:solidFill>
                  <a:srgbClr val="FFFF00"/>
                </a:solidFill>
              </a:rPr>
              <a:t>Data processing system.</a:t>
            </a:r>
          </a:p>
        </p:txBody>
      </p:sp>
      <p:pic>
        <p:nvPicPr>
          <p:cNvPr id="2" name="Picture 1">
            <a:extLst>
              <a:ext uri="{FF2B5EF4-FFF2-40B4-BE49-F238E27FC236}">
                <a16:creationId xmlns:a16="http://schemas.microsoft.com/office/drawing/2014/main" id="{47EE1C4B-BDEA-F0FC-7288-AC92309831F6}"/>
              </a:ext>
            </a:extLst>
          </p:cNvPr>
          <p:cNvPicPr>
            <a:picLocks noChangeAspect="1"/>
          </p:cNvPicPr>
          <p:nvPr/>
        </p:nvPicPr>
        <p:blipFill>
          <a:blip r:embed="rId2"/>
          <a:stretch>
            <a:fillRect/>
          </a:stretch>
        </p:blipFill>
        <p:spPr>
          <a:xfrm>
            <a:off x="5718875" y="2083878"/>
            <a:ext cx="6261314" cy="4381500"/>
          </a:xfrm>
          <a:prstGeom prst="rect">
            <a:avLst/>
          </a:prstGeom>
        </p:spPr>
      </p:pic>
      <p:sp>
        <p:nvSpPr>
          <p:cNvPr id="5" name="TextBox 4">
            <a:extLst>
              <a:ext uri="{FF2B5EF4-FFF2-40B4-BE49-F238E27FC236}">
                <a16:creationId xmlns:a16="http://schemas.microsoft.com/office/drawing/2014/main" id="{EADB77E9-037A-B448-2D46-A1347BE8CC7F}"/>
              </a:ext>
            </a:extLst>
          </p:cNvPr>
          <p:cNvSpPr txBox="1"/>
          <p:nvPr/>
        </p:nvSpPr>
        <p:spPr>
          <a:xfrm>
            <a:off x="211811" y="2149747"/>
            <a:ext cx="5352081" cy="4801314"/>
          </a:xfrm>
          <a:prstGeom prst="rect">
            <a:avLst/>
          </a:prstGeom>
          <a:noFill/>
        </p:spPr>
        <p:txBody>
          <a:bodyPr wrap="square" rtlCol="0">
            <a:spAutoFit/>
          </a:bodyPr>
          <a:lstStyle/>
          <a:p>
            <a:pPr marL="285750" indent="-285750">
              <a:buFont typeface="Wingdings" pitchFamily="2" charset="2"/>
              <a:buChar char="v"/>
            </a:pPr>
            <a:r>
              <a:rPr lang="en-US" dirty="0"/>
              <a:t>Data sourced from Microsoft Excel.</a:t>
            </a:r>
          </a:p>
          <a:p>
            <a:pPr marL="285750" indent="-285750">
              <a:buFont typeface="Wingdings" pitchFamily="2" charset="2"/>
              <a:buChar char="v"/>
            </a:pPr>
            <a:r>
              <a:rPr lang="en-US" dirty="0"/>
              <a:t>Dataset ingested into the Databricks environment as Csv  file.</a:t>
            </a:r>
          </a:p>
          <a:p>
            <a:pPr marL="285750" indent="-285750">
              <a:buFont typeface="Wingdings" pitchFamily="2" charset="2"/>
              <a:buChar char="v"/>
            </a:pPr>
            <a:r>
              <a:rPr lang="en-US" dirty="0"/>
              <a:t>A manual ETL process was followed .</a:t>
            </a:r>
          </a:p>
          <a:p>
            <a:pPr marL="285750" indent="-285750">
              <a:buFont typeface="Wingdings" pitchFamily="2" charset="2"/>
              <a:buChar char="v"/>
            </a:pPr>
            <a:r>
              <a:rPr lang="en-US" dirty="0"/>
              <a:t>SQL was used in Databricks to clean and transform the data.</a:t>
            </a:r>
          </a:p>
          <a:p>
            <a:pPr marL="285750" indent="-285750">
              <a:buFont typeface="Wingdings" pitchFamily="2" charset="2"/>
              <a:buChar char="v"/>
            </a:pPr>
            <a:r>
              <a:rPr lang="en-US" dirty="0"/>
              <a:t>New Columns created, including transaction time buckets to group transactions into time intervals.</a:t>
            </a:r>
          </a:p>
          <a:p>
            <a:pPr marL="285750" indent="-285750">
              <a:buFont typeface="Wingdings" pitchFamily="2" charset="2"/>
              <a:buChar char="v"/>
            </a:pPr>
            <a:r>
              <a:rPr lang="en-US" dirty="0"/>
              <a:t>Data types such as unit price were correctly cast.</a:t>
            </a:r>
          </a:p>
          <a:p>
            <a:pPr marL="285750" indent="-285750">
              <a:buFont typeface="Wingdings" pitchFamily="2" charset="2"/>
              <a:buChar char="v"/>
            </a:pPr>
            <a:r>
              <a:rPr lang="en-US" dirty="0"/>
              <a:t>Total transaction amount was calculated( </a:t>
            </a:r>
            <a:r>
              <a:rPr lang="en-US" dirty="0" err="1"/>
              <a:t>unit_price</a:t>
            </a:r>
            <a:r>
              <a:rPr lang="en-US" dirty="0"/>
              <a:t> * </a:t>
            </a:r>
            <a:r>
              <a:rPr lang="en-US" dirty="0" err="1"/>
              <a:t>transaction_qty</a:t>
            </a:r>
            <a:r>
              <a:rPr lang="en-US" dirty="0"/>
              <a:t>.</a:t>
            </a:r>
          </a:p>
          <a:p>
            <a:pPr marL="285750" indent="-285750">
              <a:buFont typeface="Wingdings" pitchFamily="2" charset="2"/>
              <a:buChar char="v"/>
            </a:pPr>
            <a:r>
              <a:rPr lang="en-US" dirty="0"/>
              <a:t>Key metrics such as total revenue per product were derived.</a:t>
            </a:r>
          </a:p>
          <a:p>
            <a:pPr marL="285750" indent="-285750">
              <a:buFont typeface="Wingdings" pitchFamily="2" charset="2"/>
              <a:buChar char="v"/>
            </a:pPr>
            <a:r>
              <a:rPr lang="en-US" dirty="0"/>
              <a:t>Processed data was exported to MS excel for pivoting and further analysis.</a:t>
            </a:r>
          </a:p>
          <a:p>
            <a:pPr marL="285750" indent="-285750">
              <a:buFont typeface="Wingdings" pitchFamily="2" charset="2"/>
              <a:buChar char="v"/>
            </a:pPr>
            <a:r>
              <a:rPr lang="en-US" dirty="0"/>
              <a:t>Clean datasets stored in Databricks.</a:t>
            </a:r>
          </a:p>
          <a:p>
            <a:pPr marL="285750" indent="-285750">
              <a:buFont typeface="Wingdings" pitchFamily="2" charset="2"/>
              <a:buChar char="v"/>
            </a:pPr>
            <a:r>
              <a:rPr lang="en-US" dirty="0"/>
              <a:t>Final insights into </a:t>
            </a:r>
            <a:r>
              <a:rPr lang="en-US" dirty="0" err="1"/>
              <a:t>Powerpoint</a:t>
            </a:r>
            <a:r>
              <a:rPr lang="en-US" dirty="0"/>
              <a:t> presentation</a:t>
            </a:r>
          </a:p>
        </p:txBody>
      </p:sp>
    </p:spTree>
    <p:extLst>
      <p:ext uri="{BB962C8B-B14F-4D97-AF65-F5344CB8AC3E}">
        <p14:creationId xmlns:p14="http://schemas.microsoft.com/office/powerpoint/2010/main" val="3311962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09B47-D2B9-3773-B35A-6CCEF04732DD}"/>
              </a:ext>
            </a:extLst>
          </p:cNvPr>
          <p:cNvSpPr>
            <a:spLocks noGrp="1"/>
          </p:cNvSpPr>
          <p:nvPr>
            <p:ph type="title"/>
          </p:nvPr>
        </p:nvSpPr>
        <p:spPr>
          <a:xfrm>
            <a:off x="913795" y="371959"/>
            <a:ext cx="10353762" cy="1396011"/>
          </a:xfrm>
        </p:spPr>
        <p:txBody>
          <a:bodyPr>
            <a:normAutofit/>
          </a:bodyPr>
          <a:lstStyle/>
          <a:p>
            <a:r>
              <a:rPr lang="en-GB" dirty="0">
                <a:solidFill>
                  <a:srgbClr val="FF0000"/>
                </a:solidFill>
              </a:rPr>
              <a:t> </a:t>
            </a:r>
            <a:r>
              <a:rPr lang="en-GB" sz="1800" dirty="0">
                <a:solidFill>
                  <a:srgbClr val="00B050"/>
                </a:solidFill>
              </a:rPr>
              <a:t>Total sales in all locations rose steadily , with lower M - and Hells K, climbing from roughly 27k in Jan to about 56k in June. H.K consistently generates the highest monthly sales . L.M slags slightly behind the other two outlets in most months </a:t>
            </a:r>
            <a:endParaRPr lang="en-ZA" sz="1800" dirty="0">
              <a:solidFill>
                <a:srgbClr val="00B050"/>
              </a:solidFill>
            </a:endParaRPr>
          </a:p>
        </p:txBody>
      </p:sp>
      <p:sp>
        <p:nvSpPr>
          <p:cNvPr id="3" name="Text Placeholder 2">
            <a:extLst>
              <a:ext uri="{FF2B5EF4-FFF2-40B4-BE49-F238E27FC236}">
                <a16:creationId xmlns:a16="http://schemas.microsoft.com/office/drawing/2014/main" id="{A8EFDB79-EE4F-9508-5047-1D84D1C0402E}"/>
              </a:ext>
            </a:extLst>
          </p:cNvPr>
          <p:cNvSpPr>
            <a:spLocks noGrp="1"/>
          </p:cNvSpPr>
          <p:nvPr>
            <p:ph type="body" idx="1"/>
          </p:nvPr>
        </p:nvSpPr>
        <p:spPr/>
        <p:txBody>
          <a:bodyPr/>
          <a:lstStyle/>
          <a:p>
            <a:endParaRPr lang="en-ZA" dirty="0"/>
          </a:p>
        </p:txBody>
      </p:sp>
      <p:sp>
        <p:nvSpPr>
          <p:cNvPr id="4" name="Content Placeholder 3">
            <a:extLst>
              <a:ext uri="{FF2B5EF4-FFF2-40B4-BE49-F238E27FC236}">
                <a16:creationId xmlns:a16="http://schemas.microsoft.com/office/drawing/2014/main" id="{FA78BF43-3CF2-5204-E7D5-EF26CECE060F}"/>
              </a:ext>
            </a:extLst>
          </p:cNvPr>
          <p:cNvSpPr>
            <a:spLocks noGrp="1"/>
          </p:cNvSpPr>
          <p:nvPr>
            <p:ph sz="half" idx="2"/>
          </p:nvPr>
        </p:nvSpPr>
        <p:spPr/>
        <p:txBody>
          <a:bodyPr>
            <a:normAutofit/>
          </a:bodyPr>
          <a:lstStyle/>
          <a:p>
            <a:pPr marL="36900" indent="0">
              <a:buNone/>
            </a:pPr>
            <a:r>
              <a:rPr lang="en-GB" sz="2400" dirty="0"/>
              <a:t> </a:t>
            </a:r>
            <a:endParaRPr lang="en-ZA" sz="2400" dirty="0"/>
          </a:p>
        </p:txBody>
      </p:sp>
      <p:sp>
        <p:nvSpPr>
          <p:cNvPr id="5" name="Text Placeholder 4">
            <a:extLst>
              <a:ext uri="{FF2B5EF4-FFF2-40B4-BE49-F238E27FC236}">
                <a16:creationId xmlns:a16="http://schemas.microsoft.com/office/drawing/2014/main" id="{E5CE4677-8762-BC04-03C0-CEF592E46E6A}"/>
              </a:ext>
            </a:extLst>
          </p:cNvPr>
          <p:cNvSpPr>
            <a:spLocks noGrp="1"/>
          </p:cNvSpPr>
          <p:nvPr>
            <p:ph type="body" sz="quarter" idx="3"/>
          </p:nvPr>
        </p:nvSpPr>
        <p:spPr/>
        <p:txBody>
          <a:bodyPr/>
          <a:lstStyle/>
          <a:p>
            <a:r>
              <a:rPr lang="en-GB" dirty="0"/>
              <a:t>e </a:t>
            </a:r>
            <a:endParaRPr lang="en-ZA" dirty="0"/>
          </a:p>
        </p:txBody>
      </p:sp>
      <p:sp>
        <p:nvSpPr>
          <p:cNvPr id="14" name="Content Placeholder 13">
            <a:extLst>
              <a:ext uri="{FF2B5EF4-FFF2-40B4-BE49-F238E27FC236}">
                <a16:creationId xmlns:a16="http://schemas.microsoft.com/office/drawing/2014/main" id="{D3A11482-0CE4-70D3-AF09-03F79886CB72}"/>
              </a:ext>
            </a:extLst>
          </p:cNvPr>
          <p:cNvSpPr>
            <a:spLocks noGrp="1"/>
          </p:cNvSpPr>
          <p:nvPr>
            <p:ph sz="quarter" idx="4"/>
          </p:nvPr>
        </p:nvSpPr>
        <p:spPr/>
        <p:txBody>
          <a:bodyPr/>
          <a:lstStyle/>
          <a:p>
            <a:endParaRPr lang="en-US"/>
          </a:p>
        </p:txBody>
      </p:sp>
      <p:graphicFrame>
        <p:nvGraphicFramePr>
          <p:cNvPr id="15" name="Chart 14">
            <a:extLst>
              <a:ext uri="{FF2B5EF4-FFF2-40B4-BE49-F238E27FC236}">
                <a16:creationId xmlns:a16="http://schemas.microsoft.com/office/drawing/2014/main" id="{423CA063-1601-6BBF-E25E-03F125B491A0}"/>
              </a:ext>
            </a:extLst>
          </p:cNvPr>
          <p:cNvGraphicFramePr>
            <a:graphicFrameLocks/>
          </p:cNvGraphicFramePr>
          <p:nvPr>
            <p:extLst>
              <p:ext uri="{D42A27DB-BD31-4B8C-83A1-F6EECF244321}">
                <p14:modId xmlns:p14="http://schemas.microsoft.com/office/powerpoint/2010/main" val="131543027"/>
              </p:ext>
            </p:extLst>
          </p:nvPr>
        </p:nvGraphicFramePr>
        <p:xfrm>
          <a:off x="588936" y="1734505"/>
          <a:ext cx="11127783" cy="4945263"/>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C27189EB-04AE-09A8-3041-CAD49A00B465}"/>
              </a:ext>
            </a:extLst>
          </p:cNvPr>
          <p:cNvSpPr txBox="1"/>
          <p:nvPr/>
        </p:nvSpPr>
        <p:spPr>
          <a:xfrm>
            <a:off x="3394129" y="0"/>
            <a:ext cx="5455403" cy="369332"/>
          </a:xfrm>
          <a:prstGeom prst="rect">
            <a:avLst/>
          </a:prstGeom>
          <a:noFill/>
        </p:spPr>
        <p:txBody>
          <a:bodyPr wrap="square" rtlCol="0">
            <a:spAutoFit/>
          </a:bodyPr>
          <a:lstStyle/>
          <a:p>
            <a:r>
              <a:rPr lang="en-US" dirty="0"/>
              <a:t>Revenue across all 3 locations vs name of month </a:t>
            </a:r>
          </a:p>
        </p:txBody>
      </p:sp>
    </p:spTree>
    <p:extLst>
      <p:ext uri="{BB962C8B-B14F-4D97-AF65-F5344CB8AC3E}">
        <p14:creationId xmlns:p14="http://schemas.microsoft.com/office/powerpoint/2010/main" val="1984997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870E7C2-DE4F-A7DC-1622-2D8C12CDB5AB}"/>
              </a:ext>
            </a:extLst>
          </p:cNvPr>
          <p:cNvSpPr>
            <a:spLocks noGrp="1"/>
          </p:cNvSpPr>
          <p:nvPr>
            <p:ph type="title"/>
          </p:nvPr>
        </p:nvSpPr>
        <p:spPr>
          <a:xfrm>
            <a:off x="913795" y="609600"/>
            <a:ext cx="10353762" cy="955728"/>
          </a:xfrm>
        </p:spPr>
        <p:txBody>
          <a:bodyPr>
            <a:normAutofit/>
          </a:bodyPr>
          <a:lstStyle/>
          <a:p>
            <a:r>
              <a:rPr lang="en-US" sz="1600" dirty="0">
                <a:solidFill>
                  <a:srgbClr val="00B050"/>
                </a:solidFill>
              </a:rPr>
              <a:t> </a:t>
            </a:r>
            <a:r>
              <a:rPr lang="en-US" sz="2000" dirty="0">
                <a:solidFill>
                  <a:srgbClr val="FFFF00"/>
                </a:solidFill>
              </a:rPr>
              <a:t>sales peak in the morning bucket and generates the highest total sales across all stores, indicating that the business captures the strongest revenue  window early in the day. Some stores exhibit stronger evening sales, implying location- specific demand patterns.</a:t>
            </a:r>
          </a:p>
        </p:txBody>
      </p:sp>
      <p:graphicFrame>
        <p:nvGraphicFramePr>
          <p:cNvPr id="6" name="Chart 5">
            <a:extLst>
              <a:ext uri="{FF2B5EF4-FFF2-40B4-BE49-F238E27FC236}">
                <a16:creationId xmlns:a16="http://schemas.microsoft.com/office/drawing/2014/main" id="{08F7241A-7E06-4748-D91D-44D8894879CE}"/>
              </a:ext>
            </a:extLst>
          </p:cNvPr>
          <p:cNvGraphicFramePr/>
          <p:nvPr>
            <p:extLst>
              <p:ext uri="{D42A27DB-BD31-4B8C-83A1-F6EECF244321}">
                <p14:modId xmlns:p14="http://schemas.microsoft.com/office/powerpoint/2010/main" val="1138712838"/>
              </p:ext>
            </p:extLst>
          </p:nvPr>
        </p:nvGraphicFramePr>
        <p:xfrm>
          <a:off x="1146875" y="1565328"/>
          <a:ext cx="10120682" cy="4881967"/>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D49D99A5-DB98-54D8-CB40-4EE141CEF51E}"/>
              </a:ext>
            </a:extLst>
          </p:cNvPr>
          <p:cNvSpPr txBox="1"/>
          <p:nvPr/>
        </p:nvSpPr>
        <p:spPr>
          <a:xfrm>
            <a:off x="3223648" y="-1"/>
            <a:ext cx="5687878" cy="369332"/>
          </a:xfrm>
          <a:prstGeom prst="rect">
            <a:avLst/>
          </a:prstGeom>
          <a:noFill/>
        </p:spPr>
        <p:txBody>
          <a:bodyPr wrap="square" rtlCol="0">
            <a:spAutoFit/>
          </a:bodyPr>
          <a:lstStyle/>
          <a:p>
            <a:r>
              <a:rPr lang="en-US" dirty="0"/>
              <a:t>Total sales vs Time_ bucket and store location</a:t>
            </a:r>
          </a:p>
        </p:txBody>
      </p:sp>
    </p:spTree>
    <p:extLst>
      <p:ext uri="{BB962C8B-B14F-4D97-AF65-F5344CB8AC3E}">
        <p14:creationId xmlns:p14="http://schemas.microsoft.com/office/powerpoint/2010/main" val="4277552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92FAB-8624-3F26-CE51-F66845BA3352}"/>
              </a:ext>
            </a:extLst>
          </p:cNvPr>
          <p:cNvSpPr>
            <a:spLocks noGrp="1"/>
          </p:cNvSpPr>
          <p:nvPr>
            <p:ph type="title"/>
          </p:nvPr>
        </p:nvSpPr>
        <p:spPr>
          <a:xfrm>
            <a:off x="1" y="340963"/>
            <a:ext cx="5536502" cy="991891"/>
          </a:xfrm>
        </p:spPr>
        <p:txBody>
          <a:bodyPr/>
          <a:lstStyle/>
          <a:p>
            <a:r>
              <a:rPr lang="en-ZA" sz="2400" dirty="0">
                <a:solidFill>
                  <a:srgbClr val="FF0000"/>
                </a:solidFill>
              </a:rPr>
              <a:t>Total sales vs product category and time intervals </a:t>
            </a:r>
          </a:p>
        </p:txBody>
      </p:sp>
      <p:sp>
        <p:nvSpPr>
          <p:cNvPr id="6" name="Text Placeholder 5">
            <a:extLst>
              <a:ext uri="{FF2B5EF4-FFF2-40B4-BE49-F238E27FC236}">
                <a16:creationId xmlns:a16="http://schemas.microsoft.com/office/drawing/2014/main" id="{64E97B01-A794-F79C-10FC-D6F693954A94}"/>
              </a:ext>
            </a:extLst>
          </p:cNvPr>
          <p:cNvSpPr>
            <a:spLocks noGrp="1"/>
          </p:cNvSpPr>
          <p:nvPr>
            <p:ph type="body" sz="half" idx="2"/>
          </p:nvPr>
        </p:nvSpPr>
        <p:spPr>
          <a:xfrm>
            <a:off x="161707" y="2679699"/>
            <a:ext cx="5707899" cy="3581616"/>
          </a:xfrm>
        </p:spPr>
        <p:txBody>
          <a:bodyPr>
            <a:normAutofit/>
          </a:bodyPr>
          <a:lstStyle/>
          <a:p>
            <a:r>
              <a:rPr lang="en-US" sz="2000" dirty="0"/>
              <a:t>Peak sales hours in the morning making it the most profitable time of day. Showing the strongest sales  in that period  making $388288.67 followed by the afternoon with sales up to $204720.83</a:t>
            </a:r>
          </a:p>
        </p:txBody>
      </p:sp>
      <p:graphicFrame>
        <p:nvGraphicFramePr>
          <p:cNvPr id="7" name="Picture Placeholder 6">
            <a:extLst>
              <a:ext uri="{FF2B5EF4-FFF2-40B4-BE49-F238E27FC236}">
                <a16:creationId xmlns:a16="http://schemas.microsoft.com/office/drawing/2014/main" id="{D6D476BF-B871-D2F0-D388-EA01FDF13758}"/>
              </a:ext>
            </a:extLst>
          </p:cNvPr>
          <p:cNvGraphicFramePr>
            <a:graphicFrameLocks noGrp="1"/>
          </p:cNvGraphicFramePr>
          <p:nvPr>
            <p:ph type="pic" idx="1"/>
            <p:extLst>
              <p:ext uri="{D42A27DB-BD31-4B8C-83A1-F6EECF244321}">
                <p14:modId xmlns:p14="http://schemas.microsoft.com/office/powerpoint/2010/main" val="3435605264"/>
              </p:ext>
            </p:extLst>
          </p:nvPr>
        </p:nvGraphicFramePr>
        <p:xfrm>
          <a:off x="6096000" y="123986"/>
          <a:ext cx="6096000" cy="673401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98541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58F3-1002-4675-6196-5CA2C8FE53C3}"/>
              </a:ext>
            </a:extLst>
          </p:cNvPr>
          <p:cNvSpPr>
            <a:spLocks noGrp="1"/>
          </p:cNvSpPr>
          <p:nvPr>
            <p:ph type="title"/>
          </p:nvPr>
        </p:nvSpPr>
        <p:spPr>
          <a:xfrm>
            <a:off x="353893" y="204827"/>
            <a:ext cx="11052860" cy="837780"/>
          </a:xfrm>
        </p:spPr>
        <p:txBody>
          <a:bodyPr/>
          <a:lstStyle/>
          <a:p>
            <a:r>
              <a:rPr lang="en-US" sz="2000" dirty="0">
                <a:solidFill>
                  <a:srgbClr val="FF0000"/>
                </a:solidFill>
              </a:rPr>
              <a:t>The pie chart illustrates the % contribution to total sales by each location, with Hell’s kitchen slightly ahead generating the highest revenue amongst the three</a:t>
            </a:r>
          </a:p>
        </p:txBody>
      </p:sp>
      <p:sp>
        <p:nvSpPr>
          <p:cNvPr id="4" name="Text Placeholder 3">
            <a:extLst>
              <a:ext uri="{FF2B5EF4-FFF2-40B4-BE49-F238E27FC236}">
                <a16:creationId xmlns:a16="http://schemas.microsoft.com/office/drawing/2014/main" id="{94ED3FE3-3B1F-FD38-6E59-6E7CE375A169}"/>
              </a:ext>
            </a:extLst>
          </p:cNvPr>
          <p:cNvSpPr>
            <a:spLocks noGrp="1"/>
          </p:cNvSpPr>
          <p:nvPr>
            <p:ph type="body" sz="half" idx="2"/>
          </p:nvPr>
        </p:nvSpPr>
        <p:spPr/>
        <p:txBody>
          <a:bodyPr/>
          <a:lstStyle/>
          <a:p>
            <a:endParaRPr lang="en-US"/>
          </a:p>
        </p:txBody>
      </p:sp>
      <p:graphicFrame>
        <p:nvGraphicFramePr>
          <p:cNvPr id="5" name="Chart 4">
            <a:extLst>
              <a:ext uri="{FF2B5EF4-FFF2-40B4-BE49-F238E27FC236}">
                <a16:creationId xmlns:a16="http://schemas.microsoft.com/office/drawing/2014/main" id="{208E386B-6B76-CABB-DC19-E2CE3E085496}"/>
              </a:ext>
            </a:extLst>
          </p:cNvPr>
          <p:cNvGraphicFramePr>
            <a:graphicFrameLocks/>
          </p:cNvGraphicFramePr>
          <p:nvPr>
            <p:extLst>
              <p:ext uri="{D42A27DB-BD31-4B8C-83A1-F6EECF244321}">
                <p14:modId xmlns:p14="http://schemas.microsoft.com/office/powerpoint/2010/main" val="811018050"/>
              </p:ext>
            </p:extLst>
          </p:nvPr>
        </p:nvGraphicFramePr>
        <p:xfrm>
          <a:off x="139485" y="1332853"/>
          <a:ext cx="12052515" cy="532031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6052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290D6-9D2D-62F1-707A-0B35B53BF603}"/>
              </a:ext>
            </a:extLst>
          </p:cNvPr>
          <p:cNvSpPr>
            <a:spLocks noGrp="1"/>
          </p:cNvSpPr>
          <p:nvPr>
            <p:ph type="title"/>
          </p:nvPr>
        </p:nvSpPr>
        <p:spPr>
          <a:xfrm>
            <a:off x="913795" y="139485"/>
            <a:ext cx="10353762" cy="1084881"/>
          </a:xfrm>
        </p:spPr>
        <p:txBody>
          <a:bodyPr>
            <a:normAutofit/>
          </a:bodyPr>
          <a:lstStyle/>
          <a:p>
            <a:r>
              <a:rPr lang="en-US" sz="2400" dirty="0"/>
              <a:t>Results show that the top-performing product is Sustainably Grown Organic Lg within the drinking chocolate category (hot chocolate) , achieving $21,151,75 in total revenue from 4,453 units sold.</a:t>
            </a:r>
          </a:p>
        </p:txBody>
      </p:sp>
      <p:graphicFrame>
        <p:nvGraphicFramePr>
          <p:cNvPr id="3" name="Chart 2">
            <a:extLst>
              <a:ext uri="{FF2B5EF4-FFF2-40B4-BE49-F238E27FC236}">
                <a16:creationId xmlns:a16="http://schemas.microsoft.com/office/drawing/2014/main" id="{C5C979D9-C2C4-BCDE-3D5C-654E06CCAB02}"/>
              </a:ext>
            </a:extLst>
          </p:cNvPr>
          <p:cNvGraphicFramePr>
            <a:graphicFrameLocks/>
          </p:cNvGraphicFramePr>
          <p:nvPr>
            <p:extLst>
              <p:ext uri="{D42A27DB-BD31-4B8C-83A1-F6EECF244321}">
                <p14:modId xmlns:p14="http://schemas.microsoft.com/office/powerpoint/2010/main" val="3058848973"/>
              </p:ext>
            </p:extLst>
          </p:nvPr>
        </p:nvGraphicFramePr>
        <p:xfrm>
          <a:off x="464949" y="2042332"/>
          <a:ext cx="11727051" cy="481566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64943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337F3-C85C-9353-F8EF-A236F274E6B0}"/>
              </a:ext>
            </a:extLst>
          </p:cNvPr>
          <p:cNvSpPr>
            <a:spLocks noGrp="1"/>
          </p:cNvSpPr>
          <p:nvPr>
            <p:ph type="title"/>
          </p:nvPr>
        </p:nvSpPr>
        <p:spPr>
          <a:xfrm>
            <a:off x="913795" y="232476"/>
            <a:ext cx="10353762" cy="1115878"/>
          </a:xfrm>
        </p:spPr>
        <p:txBody>
          <a:bodyPr>
            <a:normAutofit/>
          </a:bodyPr>
          <a:lstStyle/>
          <a:p>
            <a:r>
              <a:rPr lang="en-US" sz="2000" dirty="0">
                <a:solidFill>
                  <a:srgbClr val="FFFF00"/>
                </a:solidFill>
              </a:rPr>
              <a:t>The lowest- performing product is in the packaged chocolate category, specifically within the drinking chocolate product type. The dark chocolate variant generated total revenue of $4722.20 , with 118 units sold </a:t>
            </a:r>
          </a:p>
        </p:txBody>
      </p:sp>
      <p:graphicFrame>
        <p:nvGraphicFramePr>
          <p:cNvPr id="4" name="Chart 3">
            <a:extLst>
              <a:ext uri="{FF2B5EF4-FFF2-40B4-BE49-F238E27FC236}">
                <a16:creationId xmlns:a16="http://schemas.microsoft.com/office/drawing/2014/main" id="{CAA991E2-4626-2464-7CD4-316AEB16FA27}"/>
              </a:ext>
            </a:extLst>
          </p:cNvPr>
          <p:cNvGraphicFramePr>
            <a:graphicFrameLocks/>
          </p:cNvGraphicFramePr>
          <p:nvPr>
            <p:extLst>
              <p:ext uri="{D42A27DB-BD31-4B8C-83A1-F6EECF244321}">
                <p14:modId xmlns:p14="http://schemas.microsoft.com/office/powerpoint/2010/main" val="3707877883"/>
              </p:ext>
            </p:extLst>
          </p:nvPr>
        </p:nvGraphicFramePr>
        <p:xfrm>
          <a:off x="278969" y="1348353"/>
          <a:ext cx="11623729" cy="509894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10458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4D69-E921-1F75-34E8-CF4619D29C46}"/>
              </a:ext>
            </a:extLst>
          </p:cNvPr>
          <p:cNvSpPr>
            <a:spLocks noGrp="1"/>
          </p:cNvSpPr>
          <p:nvPr>
            <p:ph type="title"/>
          </p:nvPr>
        </p:nvSpPr>
        <p:spPr>
          <a:xfrm>
            <a:off x="557939" y="609600"/>
            <a:ext cx="10972800" cy="940231"/>
          </a:xfrm>
        </p:spPr>
        <p:txBody>
          <a:bodyPr>
            <a:normAutofit fontScale="90000"/>
          </a:bodyPr>
          <a:lstStyle/>
          <a:p>
            <a:r>
              <a:rPr lang="en-US" sz="2000" dirty="0"/>
              <a:t>Distribution of products sales across the 3 locations highlight clear location- driven differences in category demand. L.M demonstrates stronger and more diversified product movement , indicating a mature, high- volume customer base that responds well to broad assortment. In contrast , Astoria and H.K. show more selective categories performance, suggesting localized preferences and untapped growth potential rather than overall demand weakness</a:t>
            </a:r>
          </a:p>
        </p:txBody>
      </p:sp>
      <p:graphicFrame>
        <p:nvGraphicFramePr>
          <p:cNvPr id="5" name="Chart 4">
            <a:extLst>
              <a:ext uri="{FF2B5EF4-FFF2-40B4-BE49-F238E27FC236}">
                <a16:creationId xmlns:a16="http://schemas.microsoft.com/office/drawing/2014/main" id="{F1E6533D-FC28-7A3D-785A-EB8605AC57B5}"/>
              </a:ext>
            </a:extLst>
          </p:cNvPr>
          <p:cNvGraphicFramePr>
            <a:graphicFrameLocks/>
          </p:cNvGraphicFramePr>
          <p:nvPr>
            <p:extLst>
              <p:ext uri="{D42A27DB-BD31-4B8C-83A1-F6EECF244321}">
                <p14:modId xmlns:p14="http://schemas.microsoft.com/office/powerpoint/2010/main" val="1322522063"/>
              </p:ext>
            </p:extLst>
          </p:nvPr>
        </p:nvGraphicFramePr>
        <p:xfrm>
          <a:off x="1" y="2014779"/>
          <a:ext cx="12057680" cy="472698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99227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344E7-923A-B4EF-A875-5618A4791DCE}"/>
              </a:ext>
            </a:extLst>
          </p:cNvPr>
          <p:cNvSpPr>
            <a:spLocks noGrp="1"/>
          </p:cNvSpPr>
          <p:nvPr>
            <p:ph type="title"/>
          </p:nvPr>
        </p:nvSpPr>
        <p:spPr>
          <a:xfrm>
            <a:off x="913795" y="1"/>
            <a:ext cx="10353762" cy="1177870"/>
          </a:xfrm>
        </p:spPr>
        <p:txBody>
          <a:bodyPr>
            <a:normAutofit fontScale="90000"/>
          </a:bodyPr>
          <a:lstStyle/>
          <a:p>
            <a:r>
              <a:rPr lang="en-US" sz="2000" dirty="0"/>
              <a:t>Sales patterns across all three Bright Coffee shop locations show a clear and consistent demand concentration in the morning period, with afternoons as a secondary  peak. This may indicate that customer traffic is primarily driven by routine, time bound consumption behaviors –such as morning commutes ,workday starts and early productivity rituals- rather than discretionary or leisure-based visits later in the day.</a:t>
            </a:r>
          </a:p>
        </p:txBody>
      </p:sp>
      <p:graphicFrame>
        <p:nvGraphicFramePr>
          <p:cNvPr id="3" name="Chart 2">
            <a:extLst>
              <a:ext uri="{FF2B5EF4-FFF2-40B4-BE49-F238E27FC236}">
                <a16:creationId xmlns:a16="http://schemas.microsoft.com/office/drawing/2014/main" id="{92C2DBAE-1743-2B69-8E40-774FF0EFE868}"/>
              </a:ext>
            </a:extLst>
          </p:cNvPr>
          <p:cNvGraphicFramePr>
            <a:graphicFrameLocks/>
          </p:cNvGraphicFramePr>
          <p:nvPr>
            <p:extLst>
              <p:ext uri="{D42A27DB-BD31-4B8C-83A1-F6EECF244321}">
                <p14:modId xmlns:p14="http://schemas.microsoft.com/office/powerpoint/2010/main" val="198144021"/>
              </p:ext>
            </p:extLst>
          </p:nvPr>
        </p:nvGraphicFramePr>
        <p:xfrm>
          <a:off x="0" y="1410346"/>
          <a:ext cx="12192000" cy="54476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83270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3979A-6164-109D-3EA3-8F626435F500}"/>
              </a:ext>
            </a:extLst>
          </p:cNvPr>
          <p:cNvSpPr>
            <a:spLocks noGrp="1"/>
          </p:cNvSpPr>
          <p:nvPr>
            <p:ph type="title"/>
          </p:nvPr>
        </p:nvSpPr>
        <p:spPr>
          <a:xfrm>
            <a:off x="919119" y="123986"/>
            <a:ext cx="10353762" cy="1193370"/>
          </a:xfrm>
        </p:spPr>
        <p:txBody>
          <a:bodyPr>
            <a:normAutofit/>
          </a:bodyPr>
          <a:lstStyle/>
          <a:p>
            <a:r>
              <a:rPr lang="en-US" sz="2000" dirty="0"/>
              <a:t>The graph highlights the top-selling products . Popular beverages include Dark chocolate (Large), sustainably organic (Large), latte (Regular), and morning sunrise chai (Large), among others. Hot chocolate- dark chocolate ranks amongst best selling items overall</a:t>
            </a:r>
          </a:p>
        </p:txBody>
      </p:sp>
      <p:graphicFrame>
        <p:nvGraphicFramePr>
          <p:cNvPr id="3" name="Chart 2">
            <a:extLst>
              <a:ext uri="{FF2B5EF4-FFF2-40B4-BE49-F238E27FC236}">
                <a16:creationId xmlns:a16="http://schemas.microsoft.com/office/drawing/2014/main" id="{A5C5DD2D-6A3E-085C-9A21-DB3254A350B5}"/>
              </a:ext>
            </a:extLst>
          </p:cNvPr>
          <p:cNvGraphicFramePr>
            <a:graphicFrameLocks/>
          </p:cNvGraphicFramePr>
          <p:nvPr>
            <p:extLst>
              <p:ext uri="{D42A27DB-BD31-4B8C-83A1-F6EECF244321}">
                <p14:modId xmlns:p14="http://schemas.microsoft.com/office/powerpoint/2010/main" val="65318094"/>
              </p:ext>
            </p:extLst>
          </p:nvPr>
        </p:nvGraphicFramePr>
        <p:xfrm>
          <a:off x="0" y="1556934"/>
          <a:ext cx="12192000" cy="530106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53090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11B4B-A09A-CB9A-FD2F-0A698D42900F}"/>
              </a:ext>
            </a:extLst>
          </p:cNvPr>
          <p:cNvSpPr>
            <a:spLocks noGrp="1"/>
          </p:cNvSpPr>
          <p:nvPr>
            <p:ph type="title"/>
          </p:nvPr>
        </p:nvSpPr>
        <p:spPr>
          <a:xfrm>
            <a:off x="913794" y="147234"/>
            <a:ext cx="10678937" cy="953146"/>
          </a:xfrm>
        </p:spPr>
        <p:txBody>
          <a:bodyPr>
            <a:noAutofit/>
          </a:bodyPr>
          <a:lstStyle/>
          <a:p>
            <a:r>
              <a:rPr lang="en-US" sz="1800" dirty="0">
                <a:solidFill>
                  <a:srgbClr val="FFFF00"/>
                </a:solidFill>
              </a:rPr>
              <a:t>Over a six-month – period, Bright coffee generated total revenue of $698,812.13 from a beverage and other - portfolio of  more than 80 products. All three locations are performing satisfactorily, with seasonal variations in individual sales remaining relatively small. In  the next section , we present strategic recommendations aimed at increasing revenue, enhancing service efficiency, and driving overall business performance </a:t>
            </a:r>
          </a:p>
        </p:txBody>
      </p:sp>
      <p:graphicFrame>
        <p:nvGraphicFramePr>
          <p:cNvPr id="3" name="Chart 2">
            <a:extLst>
              <a:ext uri="{FF2B5EF4-FFF2-40B4-BE49-F238E27FC236}">
                <a16:creationId xmlns:a16="http://schemas.microsoft.com/office/drawing/2014/main" id="{999619B2-B21C-BB95-2AAD-E8ECA911A311}"/>
              </a:ext>
            </a:extLst>
          </p:cNvPr>
          <p:cNvGraphicFramePr>
            <a:graphicFrameLocks/>
          </p:cNvGraphicFramePr>
          <p:nvPr>
            <p:extLst>
              <p:ext uri="{D42A27DB-BD31-4B8C-83A1-F6EECF244321}">
                <p14:modId xmlns:p14="http://schemas.microsoft.com/office/powerpoint/2010/main" val="2390854826"/>
              </p:ext>
            </p:extLst>
          </p:nvPr>
        </p:nvGraphicFramePr>
        <p:xfrm>
          <a:off x="157262" y="1270862"/>
          <a:ext cx="12192000" cy="509894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14205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13C177A-8F22-AD20-4BE6-D154EE3A5C81}"/>
              </a:ext>
            </a:extLst>
          </p:cNvPr>
          <p:cNvSpPr>
            <a:spLocks noGrp="1"/>
          </p:cNvSpPr>
          <p:nvPr>
            <p:ph type="title"/>
          </p:nvPr>
        </p:nvSpPr>
        <p:spPr>
          <a:xfrm>
            <a:off x="913795" y="609600"/>
            <a:ext cx="10353762" cy="1257300"/>
          </a:xfrm>
        </p:spPr>
        <p:txBody>
          <a:bodyPr anchor="ctr">
            <a:normAutofit/>
          </a:bodyPr>
          <a:lstStyle/>
          <a:p>
            <a:r>
              <a:rPr lang="en-US" dirty="0"/>
              <a:t> </a:t>
            </a:r>
          </a:p>
        </p:txBody>
      </p:sp>
      <p:pic>
        <p:nvPicPr>
          <p:cNvPr id="2" name="Picture 1" descr="A hand with a green sweater and a blue background&#10;&#10;AI-generated content may be incorrect.">
            <a:extLst>
              <a:ext uri="{FF2B5EF4-FFF2-40B4-BE49-F238E27FC236}">
                <a16:creationId xmlns:a16="http://schemas.microsoft.com/office/drawing/2014/main" id="{9A37D8A5-289A-0D6C-7AF1-E5B0742EB0F8}"/>
              </a:ext>
            </a:extLst>
          </p:cNvPr>
          <p:cNvPicPr>
            <a:picLocks noChangeAspect="1"/>
          </p:cNvPicPr>
          <p:nvPr/>
        </p:nvPicPr>
        <p:blipFill>
          <a:blip r:embed="rId2"/>
          <a:srcRect t="28101"/>
          <a:stretch>
            <a:fillRect/>
          </a:stretch>
        </p:blipFill>
        <p:spPr>
          <a:xfrm>
            <a:off x="913795" y="1866901"/>
            <a:ext cx="10156845" cy="4564896"/>
          </a:xfrm>
          <a:prstGeom prst="rect">
            <a:avLst/>
          </a:prstGeom>
          <a:noFill/>
        </p:spPr>
      </p:pic>
      <p:sp>
        <p:nvSpPr>
          <p:cNvPr id="3" name="TextBox 2">
            <a:extLst>
              <a:ext uri="{FF2B5EF4-FFF2-40B4-BE49-F238E27FC236}">
                <a16:creationId xmlns:a16="http://schemas.microsoft.com/office/drawing/2014/main" id="{A9B3160D-C7AA-90BA-8BDE-BCCD3116CAF4}"/>
              </a:ext>
            </a:extLst>
          </p:cNvPr>
          <p:cNvSpPr txBox="1"/>
          <p:nvPr/>
        </p:nvSpPr>
        <p:spPr>
          <a:xfrm>
            <a:off x="1410346" y="790413"/>
            <a:ext cx="8865029" cy="584775"/>
          </a:xfrm>
          <a:prstGeom prst="rect">
            <a:avLst/>
          </a:prstGeom>
          <a:noFill/>
        </p:spPr>
        <p:txBody>
          <a:bodyPr wrap="square" rtlCol="0">
            <a:spAutoFit/>
          </a:bodyPr>
          <a:lstStyle/>
          <a:p>
            <a:r>
              <a:rPr lang="en-US" sz="3200" dirty="0">
                <a:solidFill>
                  <a:srgbClr val="FFC000"/>
                </a:solidFill>
              </a:rPr>
              <a:t>Recommendations and Strategy to drive revenue </a:t>
            </a:r>
          </a:p>
        </p:txBody>
      </p:sp>
    </p:spTree>
    <p:extLst>
      <p:ext uri="{BB962C8B-B14F-4D97-AF65-F5344CB8AC3E}">
        <p14:creationId xmlns:p14="http://schemas.microsoft.com/office/powerpoint/2010/main" val="101453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6F8C1-8193-AF97-1A91-8EFD992C95E1}"/>
              </a:ext>
            </a:extLst>
          </p:cNvPr>
          <p:cNvSpPr>
            <a:spLocks noGrp="1"/>
          </p:cNvSpPr>
          <p:nvPr>
            <p:ph type="title"/>
          </p:nvPr>
        </p:nvSpPr>
        <p:spPr/>
        <p:txBody>
          <a:bodyPr/>
          <a:lstStyle/>
          <a:p>
            <a:r>
              <a:rPr lang="en-US" dirty="0"/>
              <a:t>Strategy and recommendations </a:t>
            </a:r>
          </a:p>
        </p:txBody>
      </p:sp>
      <p:sp>
        <p:nvSpPr>
          <p:cNvPr id="3" name="Text Placeholder 2">
            <a:extLst>
              <a:ext uri="{FF2B5EF4-FFF2-40B4-BE49-F238E27FC236}">
                <a16:creationId xmlns:a16="http://schemas.microsoft.com/office/drawing/2014/main" id="{C0277527-5C04-66DA-5C7A-C0247FC542CE}"/>
              </a:ext>
            </a:extLst>
          </p:cNvPr>
          <p:cNvSpPr>
            <a:spLocks noGrp="1"/>
          </p:cNvSpPr>
          <p:nvPr>
            <p:ph type="body" idx="1"/>
          </p:nvPr>
        </p:nvSpPr>
        <p:spPr/>
        <p:txBody>
          <a:bodyPr/>
          <a:lstStyle/>
          <a:p>
            <a:r>
              <a:rPr lang="en-US" b="1" dirty="0">
                <a:solidFill>
                  <a:srgbClr val="0070C0"/>
                </a:solidFill>
              </a:rPr>
              <a:t>Optimise peak-hour  revenue</a:t>
            </a:r>
          </a:p>
        </p:txBody>
      </p:sp>
      <p:sp>
        <p:nvSpPr>
          <p:cNvPr id="4" name="Text Placeholder 3">
            <a:extLst>
              <a:ext uri="{FF2B5EF4-FFF2-40B4-BE49-F238E27FC236}">
                <a16:creationId xmlns:a16="http://schemas.microsoft.com/office/drawing/2014/main" id="{9AD90A7E-CB63-2C64-41F4-CCF2D730910B}"/>
              </a:ext>
            </a:extLst>
          </p:cNvPr>
          <p:cNvSpPr>
            <a:spLocks noGrp="1"/>
          </p:cNvSpPr>
          <p:nvPr>
            <p:ph type="body" sz="half" idx="15"/>
          </p:nvPr>
        </p:nvSpPr>
        <p:spPr>
          <a:xfrm>
            <a:off x="913795" y="2650732"/>
            <a:ext cx="3300984" cy="3597668"/>
          </a:xfrm>
        </p:spPr>
        <p:txBody>
          <a:bodyPr>
            <a:normAutofit fontScale="77500" lnSpcReduction="20000"/>
          </a:bodyPr>
          <a:lstStyle/>
          <a:p>
            <a:r>
              <a:rPr lang="en-US" sz="2400" dirty="0"/>
              <a:t>Reengineer morning operations to </a:t>
            </a:r>
            <a:r>
              <a:rPr lang="en-US" sz="2400" dirty="0" err="1"/>
              <a:t>maximise</a:t>
            </a:r>
            <a:r>
              <a:rPr lang="en-US" sz="2400" dirty="0"/>
              <a:t> throughput, speed and volume. </a:t>
            </a:r>
          </a:p>
          <a:p>
            <a:r>
              <a:rPr lang="en-US" sz="2400" dirty="0"/>
              <a:t>Redesign staffing schedules, barista workflows and counter layouts to reduce service time per customer.</a:t>
            </a:r>
          </a:p>
          <a:p>
            <a:r>
              <a:rPr lang="en-US" sz="2400" dirty="0"/>
              <a:t>Introduce express lanes, pre-order pick-ups or limited “morning only” menus  focused on top sellers</a:t>
            </a:r>
          </a:p>
          <a:p>
            <a:endParaRPr lang="en-US" sz="2400" dirty="0"/>
          </a:p>
        </p:txBody>
      </p:sp>
      <p:sp>
        <p:nvSpPr>
          <p:cNvPr id="5" name="Text Placeholder 4">
            <a:extLst>
              <a:ext uri="{FF2B5EF4-FFF2-40B4-BE49-F238E27FC236}">
                <a16:creationId xmlns:a16="http://schemas.microsoft.com/office/drawing/2014/main" id="{934E13B2-23DE-3921-7809-A6895446BD96}"/>
              </a:ext>
            </a:extLst>
          </p:cNvPr>
          <p:cNvSpPr>
            <a:spLocks noGrp="1"/>
          </p:cNvSpPr>
          <p:nvPr>
            <p:ph type="body" sz="quarter" idx="3"/>
          </p:nvPr>
        </p:nvSpPr>
        <p:spPr/>
        <p:txBody>
          <a:bodyPr/>
          <a:lstStyle/>
          <a:p>
            <a:r>
              <a:rPr lang="en-US" b="1" dirty="0">
                <a:solidFill>
                  <a:srgbClr val="00B050"/>
                </a:solidFill>
              </a:rPr>
              <a:t>Ruthless menu </a:t>
            </a:r>
            <a:r>
              <a:rPr lang="en-US" b="1" dirty="0" err="1">
                <a:solidFill>
                  <a:srgbClr val="00B050"/>
                </a:solidFill>
              </a:rPr>
              <a:t>rationalisation</a:t>
            </a:r>
            <a:r>
              <a:rPr lang="en-US" b="1" dirty="0">
                <a:solidFill>
                  <a:srgbClr val="00B050"/>
                </a:solidFill>
              </a:rPr>
              <a:t> / focus on performers </a:t>
            </a:r>
          </a:p>
        </p:txBody>
      </p:sp>
      <p:sp>
        <p:nvSpPr>
          <p:cNvPr id="6" name="Text Placeholder 5">
            <a:extLst>
              <a:ext uri="{FF2B5EF4-FFF2-40B4-BE49-F238E27FC236}">
                <a16:creationId xmlns:a16="http://schemas.microsoft.com/office/drawing/2014/main" id="{254A1865-8344-09F1-3499-DA1A4A30C33A}"/>
              </a:ext>
            </a:extLst>
          </p:cNvPr>
          <p:cNvSpPr>
            <a:spLocks noGrp="1"/>
          </p:cNvSpPr>
          <p:nvPr>
            <p:ph type="body" sz="half" idx="16"/>
          </p:nvPr>
        </p:nvSpPr>
        <p:spPr/>
        <p:txBody>
          <a:bodyPr>
            <a:normAutofit fontScale="92500" lnSpcReduction="20000"/>
          </a:bodyPr>
          <a:lstStyle/>
          <a:p>
            <a:r>
              <a:rPr lang="en-US" sz="2400" dirty="0"/>
              <a:t>Increase availability, visibility and consistency of best- selling items.</a:t>
            </a:r>
          </a:p>
          <a:p>
            <a:r>
              <a:rPr lang="en-US" sz="2400" dirty="0"/>
              <a:t>Gradually phase out products with persistently low demand to reduce waste, supplier complexity and staff training time and costs.</a:t>
            </a:r>
          </a:p>
        </p:txBody>
      </p:sp>
      <p:sp>
        <p:nvSpPr>
          <p:cNvPr id="7" name="Text Placeholder 6">
            <a:extLst>
              <a:ext uri="{FF2B5EF4-FFF2-40B4-BE49-F238E27FC236}">
                <a16:creationId xmlns:a16="http://schemas.microsoft.com/office/drawing/2014/main" id="{F37B4610-AFE0-B734-35FA-5007EEE426CD}"/>
              </a:ext>
            </a:extLst>
          </p:cNvPr>
          <p:cNvSpPr>
            <a:spLocks noGrp="1"/>
          </p:cNvSpPr>
          <p:nvPr>
            <p:ph type="body" sz="quarter" idx="13"/>
          </p:nvPr>
        </p:nvSpPr>
        <p:spPr/>
        <p:txBody>
          <a:bodyPr/>
          <a:lstStyle/>
          <a:p>
            <a:r>
              <a:rPr lang="en-US" dirty="0">
                <a:solidFill>
                  <a:srgbClr val="FF0000"/>
                </a:solidFill>
              </a:rPr>
              <a:t>Smart pricing and hype to unlock emerging products</a:t>
            </a:r>
          </a:p>
        </p:txBody>
      </p:sp>
      <p:sp>
        <p:nvSpPr>
          <p:cNvPr id="8" name="Text Placeholder 7">
            <a:extLst>
              <a:ext uri="{FF2B5EF4-FFF2-40B4-BE49-F238E27FC236}">
                <a16:creationId xmlns:a16="http://schemas.microsoft.com/office/drawing/2014/main" id="{7BECBCB8-921D-FE91-4FB0-666F54F21A91}"/>
              </a:ext>
            </a:extLst>
          </p:cNvPr>
          <p:cNvSpPr>
            <a:spLocks noGrp="1"/>
          </p:cNvSpPr>
          <p:nvPr>
            <p:ph type="body" sz="half" idx="17"/>
          </p:nvPr>
        </p:nvSpPr>
        <p:spPr/>
        <p:txBody>
          <a:bodyPr>
            <a:normAutofit fontScale="92500" lnSpcReduction="10000"/>
          </a:bodyPr>
          <a:lstStyle/>
          <a:p>
            <a:r>
              <a:rPr lang="en-US" sz="2000" dirty="0"/>
              <a:t>Temporary introductory pricing- half price or bundle offers to build awareness and trial. Promote the low performing products aggressively at point of sale and on digital channels.</a:t>
            </a:r>
          </a:p>
          <a:p>
            <a:r>
              <a:rPr lang="en-US" sz="2000" dirty="0"/>
              <a:t>Once demand is established, gradually </a:t>
            </a:r>
            <a:r>
              <a:rPr lang="en-US" sz="2000" dirty="0" err="1"/>
              <a:t>normalise</a:t>
            </a:r>
            <a:r>
              <a:rPr lang="en-US" sz="2000" dirty="0"/>
              <a:t> pricing to protect margin</a:t>
            </a:r>
          </a:p>
        </p:txBody>
      </p:sp>
    </p:spTree>
    <p:extLst>
      <p:ext uri="{BB962C8B-B14F-4D97-AF65-F5344CB8AC3E}">
        <p14:creationId xmlns:p14="http://schemas.microsoft.com/office/powerpoint/2010/main" val="2499193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62FB2-701A-C27A-9578-35F4C2CF4D4E}"/>
              </a:ext>
            </a:extLst>
          </p:cNvPr>
          <p:cNvSpPr>
            <a:spLocks noGrp="1"/>
          </p:cNvSpPr>
          <p:nvPr>
            <p:ph type="title"/>
          </p:nvPr>
        </p:nvSpPr>
        <p:spPr/>
        <p:txBody>
          <a:bodyPr/>
          <a:lstStyle/>
          <a:p>
            <a:r>
              <a:rPr lang="en-GB" dirty="0">
                <a:solidFill>
                  <a:srgbClr val="00B050"/>
                </a:solidFill>
              </a:rPr>
              <a:t>Reposition physical space</a:t>
            </a:r>
            <a:endParaRPr lang="en-ZA" dirty="0">
              <a:solidFill>
                <a:srgbClr val="00B050"/>
              </a:solidFill>
            </a:endParaRPr>
          </a:p>
        </p:txBody>
      </p:sp>
      <p:sp>
        <p:nvSpPr>
          <p:cNvPr id="3" name="Content Placeholder 2">
            <a:extLst>
              <a:ext uri="{FF2B5EF4-FFF2-40B4-BE49-F238E27FC236}">
                <a16:creationId xmlns:a16="http://schemas.microsoft.com/office/drawing/2014/main" id="{DB021D0D-C008-C58F-43A9-32369371575A}"/>
              </a:ext>
            </a:extLst>
          </p:cNvPr>
          <p:cNvSpPr>
            <a:spLocks noGrp="1"/>
          </p:cNvSpPr>
          <p:nvPr>
            <p:ph sz="half" idx="1"/>
          </p:nvPr>
        </p:nvSpPr>
        <p:spPr>
          <a:xfrm>
            <a:off x="913795" y="2076450"/>
            <a:ext cx="4856841" cy="4171950"/>
          </a:xfrm>
        </p:spPr>
        <p:txBody>
          <a:bodyPr>
            <a:normAutofit fontScale="92500" lnSpcReduction="20000"/>
          </a:bodyPr>
          <a:lstStyle/>
          <a:p>
            <a:r>
              <a:rPr lang="en-ZA" sz="2000" dirty="0"/>
              <a:t>The revenue pattern confirms that customers currently view Bright primarily as a grab and go coffee shop. However this presents a significant growth opportunity, not limitation.</a:t>
            </a:r>
          </a:p>
          <a:p>
            <a:r>
              <a:rPr lang="en-ZA" sz="2000" dirty="0"/>
              <a:t>Redesign sections of each store to support remote work, informal meetings and longer stays.</a:t>
            </a:r>
          </a:p>
          <a:p>
            <a:r>
              <a:rPr lang="en-ZA" sz="2000" dirty="0"/>
              <a:t>Improve wi-fi seating comfort, power access and lighting.</a:t>
            </a:r>
          </a:p>
          <a:p>
            <a:r>
              <a:rPr lang="en-ZA" sz="2000" dirty="0"/>
              <a:t>Introduce subtle cues that position Bright as a productive third space for professionals and students</a:t>
            </a:r>
          </a:p>
          <a:p>
            <a:endParaRPr lang="en-ZA" sz="2000" dirty="0"/>
          </a:p>
        </p:txBody>
      </p:sp>
      <p:sp>
        <p:nvSpPr>
          <p:cNvPr id="4" name="Content Placeholder 3">
            <a:extLst>
              <a:ext uri="{FF2B5EF4-FFF2-40B4-BE49-F238E27FC236}">
                <a16:creationId xmlns:a16="http://schemas.microsoft.com/office/drawing/2014/main" id="{A2415AA8-7D6E-A4A4-20D3-AFAE5952F04F}"/>
              </a:ext>
            </a:extLst>
          </p:cNvPr>
          <p:cNvSpPr>
            <a:spLocks noGrp="1"/>
          </p:cNvSpPr>
          <p:nvPr>
            <p:ph sz="half" idx="2"/>
          </p:nvPr>
        </p:nvSpPr>
        <p:spPr/>
        <p:txBody>
          <a:bodyPr>
            <a:normAutofit fontScale="92500" lnSpcReduction="20000"/>
          </a:bodyPr>
          <a:lstStyle/>
          <a:p>
            <a:pPr marL="36900" indent="0">
              <a:buNone/>
            </a:pPr>
            <a:r>
              <a:rPr lang="en-ZA" sz="2400" dirty="0"/>
              <a:t>Consider closing earlier in the evenings and reallocating resources to earlier opening times, capturing more of the high-value morning demand.</a:t>
            </a:r>
          </a:p>
          <a:p>
            <a:pPr marL="36900" indent="0">
              <a:buNone/>
            </a:pPr>
            <a:r>
              <a:rPr lang="en-ZA" sz="2400" dirty="0"/>
              <a:t>Alternatively , test evening specific offerings rather than forcing coffee sales when demand is naturally low.</a:t>
            </a:r>
          </a:p>
          <a:p>
            <a:pPr marL="36900" indent="0">
              <a:buNone/>
            </a:pPr>
            <a:r>
              <a:rPr lang="en-ZA" sz="2400" dirty="0"/>
              <a:t>Simple engagement through a digital ordering app provides clear insights into customer preferences.</a:t>
            </a:r>
          </a:p>
        </p:txBody>
      </p:sp>
    </p:spTree>
    <p:extLst>
      <p:ext uri="{BB962C8B-B14F-4D97-AF65-F5344CB8AC3E}">
        <p14:creationId xmlns:p14="http://schemas.microsoft.com/office/powerpoint/2010/main" val="16276418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43A18-FAE9-7171-28DC-06F4B5468BBD}"/>
              </a:ext>
            </a:extLst>
          </p:cNvPr>
          <p:cNvSpPr>
            <a:spLocks noGrp="1"/>
          </p:cNvSpPr>
          <p:nvPr>
            <p:ph type="title"/>
          </p:nvPr>
        </p:nvSpPr>
        <p:spPr/>
        <p:txBody>
          <a:bodyPr>
            <a:normAutofit/>
          </a:bodyPr>
          <a:lstStyle/>
          <a:p>
            <a:r>
              <a:rPr lang="en-GB" sz="3600" dirty="0">
                <a:solidFill>
                  <a:srgbClr val="FFC000"/>
                </a:solidFill>
              </a:rPr>
              <a:t>Auto reporting systems </a:t>
            </a:r>
            <a:endParaRPr lang="en-ZA" sz="3600" dirty="0">
              <a:solidFill>
                <a:srgbClr val="FFC000"/>
              </a:solidFill>
            </a:endParaRPr>
          </a:p>
        </p:txBody>
      </p:sp>
      <p:sp>
        <p:nvSpPr>
          <p:cNvPr id="3" name="Text Placeholder 2">
            <a:extLst>
              <a:ext uri="{FF2B5EF4-FFF2-40B4-BE49-F238E27FC236}">
                <a16:creationId xmlns:a16="http://schemas.microsoft.com/office/drawing/2014/main" id="{2E88561A-0CB8-C86A-E559-C8B6DB248CD6}"/>
              </a:ext>
            </a:extLst>
          </p:cNvPr>
          <p:cNvSpPr>
            <a:spLocks noGrp="1"/>
          </p:cNvSpPr>
          <p:nvPr>
            <p:ph type="body" idx="1"/>
          </p:nvPr>
        </p:nvSpPr>
        <p:spPr/>
        <p:txBody>
          <a:bodyPr/>
          <a:lstStyle/>
          <a:p>
            <a:r>
              <a:rPr lang="en-ZA" sz="2800" dirty="0">
                <a:solidFill>
                  <a:srgbClr val="00B050"/>
                </a:solidFill>
              </a:rPr>
              <a:t>Point of sale + Inventory</a:t>
            </a:r>
          </a:p>
        </p:txBody>
      </p:sp>
      <p:sp>
        <p:nvSpPr>
          <p:cNvPr id="4" name="Text Placeholder 3">
            <a:extLst>
              <a:ext uri="{FF2B5EF4-FFF2-40B4-BE49-F238E27FC236}">
                <a16:creationId xmlns:a16="http://schemas.microsoft.com/office/drawing/2014/main" id="{018BDE34-0594-BD80-ED56-41302A6C8E51}"/>
              </a:ext>
            </a:extLst>
          </p:cNvPr>
          <p:cNvSpPr>
            <a:spLocks noGrp="1"/>
          </p:cNvSpPr>
          <p:nvPr>
            <p:ph type="body" sz="half" idx="15"/>
          </p:nvPr>
        </p:nvSpPr>
        <p:spPr>
          <a:xfrm>
            <a:off x="913795" y="2768111"/>
            <a:ext cx="3300984" cy="3787671"/>
          </a:xfrm>
        </p:spPr>
        <p:txBody>
          <a:bodyPr>
            <a:normAutofit lnSpcReduction="10000"/>
          </a:bodyPr>
          <a:lstStyle/>
          <a:p>
            <a:pPr marL="285750" indent="-285750">
              <a:buFont typeface="Arial" panose="020B0604020202020204" pitchFamily="34" charset="0"/>
              <a:buChar char="•"/>
            </a:pPr>
            <a:r>
              <a:rPr lang="en-ZA" sz="2000" dirty="0"/>
              <a:t>This is a non negotiable. A modern café pop that gives us real time sales reporting, menu performance, staff reporting and ideally inventory tracking and customer profiles/ loyalty.</a:t>
            </a:r>
          </a:p>
          <a:p>
            <a:pPr marL="285750" indent="-285750">
              <a:buFont typeface="Arial" panose="020B0604020202020204" pitchFamily="34" charset="0"/>
              <a:buChar char="•"/>
            </a:pPr>
            <a:r>
              <a:rPr lang="en-ZA" sz="2000" dirty="0"/>
              <a:t>Toast </a:t>
            </a:r>
          </a:p>
          <a:p>
            <a:pPr marL="285750" indent="-285750">
              <a:buFont typeface="Arial" panose="020B0604020202020204" pitchFamily="34" charset="0"/>
              <a:buChar char="•"/>
            </a:pPr>
            <a:r>
              <a:rPr lang="en-ZA" sz="2000" dirty="0"/>
              <a:t>Lightspeed</a:t>
            </a:r>
          </a:p>
          <a:p>
            <a:pPr marL="285750" indent="-285750">
              <a:buFont typeface="Arial" panose="020B0604020202020204" pitchFamily="34" charset="0"/>
              <a:buChar char="•"/>
            </a:pPr>
            <a:r>
              <a:rPr lang="en-ZA" sz="2000" dirty="0"/>
              <a:t>Square etc.</a:t>
            </a:r>
          </a:p>
        </p:txBody>
      </p:sp>
      <p:sp>
        <p:nvSpPr>
          <p:cNvPr id="5" name="Text Placeholder 4">
            <a:extLst>
              <a:ext uri="{FF2B5EF4-FFF2-40B4-BE49-F238E27FC236}">
                <a16:creationId xmlns:a16="http://schemas.microsoft.com/office/drawing/2014/main" id="{7B75E3BD-E0B7-B8AC-8591-95221F8A722E}"/>
              </a:ext>
            </a:extLst>
          </p:cNvPr>
          <p:cNvSpPr>
            <a:spLocks noGrp="1"/>
          </p:cNvSpPr>
          <p:nvPr>
            <p:ph type="body" sz="quarter" idx="3"/>
          </p:nvPr>
        </p:nvSpPr>
        <p:spPr/>
        <p:txBody>
          <a:bodyPr/>
          <a:lstStyle/>
          <a:p>
            <a:r>
              <a:rPr lang="en-ZA" sz="2400" dirty="0">
                <a:solidFill>
                  <a:srgbClr val="00B050"/>
                </a:solidFill>
              </a:rPr>
              <a:t>BI dashboards</a:t>
            </a:r>
          </a:p>
        </p:txBody>
      </p:sp>
      <p:sp>
        <p:nvSpPr>
          <p:cNvPr id="6" name="Text Placeholder 5">
            <a:extLst>
              <a:ext uri="{FF2B5EF4-FFF2-40B4-BE49-F238E27FC236}">
                <a16:creationId xmlns:a16="http://schemas.microsoft.com/office/drawing/2014/main" id="{414D7D89-CF8C-C232-7B80-4149B92006A5}"/>
              </a:ext>
            </a:extLst>
          </p:cNvPr>
          <p:cNvSpPr>
            <a:spLocks noGrp="1"/>
          </p:cNvSpPr>
          <p:nvPr>
            <p:ph type="body" sz="half" idx="16"/>
          </p:nvPr>
        </p:nvSpPr>
        <p:spPr/>
        <p:txBody>
          <a:bodyPr>
            <a:normAutofit/>
          </a:bodyPr>
          <a:lstStyle/>
          <a:p>
            <a:pPr marL="342900" indent="-342900">
              <a:buFont typeface="Arial" panose="020B0604020202020204" pitchFamily="34" charset="0"/>
              <a:buChar char="•"/>
            </a:pPr>
            <a:r>
              <a:rPr lang="en-ZA" sz="2000" dirty="0"/>
              <a:t>Pull POS data into BI tool and running standardised dashboards that compare store apples to apples for instance.</a:t>
            </a:r>
          </a:p>
        </p:txBody>
      </p:sp>
      <p:sp>
        <p:nvSpPr>
          <p:cNvPr id="7" name="Text Placeholder 6">
            <a:extLst>
              <a:ext uri="{FF2B5EF4-FFF2-40B4-BE49-F238E27FC236}">
                <a16:creationId xmlns:a16="http://schemas.microsoft.com/office/drawing/2014/main" id="{6F7AC28D-B027-3BB5-2E28-26BF9D289848}"/>
              </a:ext>
            </a:extLst>
          </p:cNvPr>
          <p:cNvSpPr>
            <a:spLocks noGrp="1"/>
          </p:cNvSpPr>
          <p:nvPr>
            <p:ph type="body" sz="quarter" idx="13"/>
          </p:nvPr>
        </p:nvSpPr>
        <p:spPr/>
        <p:txBody>
          <a:bodyPr/>
          <a:lstStyle/>
          <a:p>
            <a:r>
              <a:rPr lang="en-ZA" dirty="0">
                <a:solidFill>
                  <a:srgbClr val="00B050"/>
                </a:solidFill>
              </a:rPr>
              <a:t>Alerting stack.</a:t>
            </a:r>
          </a:p>
        </p:txBody>
      </p:sp>
      <p:sp>
        <p:nvSpPr>
          <p:cNvPr id="8" name="Text Placeholder 7">
            <a:extLst>
              <a:ext uri="{FF2B5EF4-FFF2-40B4-BE49-F238E27FC236}">
                <a16:creationId xmlns:a16="http://schemas.microsoft.com/office/drawing/2014/main" id="{748566D0-C181-A9C6-8693-CAAE47C8D412}"/>
              </a:ext>
            </a:extLst>
          </p:cNvPr>
          <p:cNvSpPr>
            <a:spLocks noGrp="1"/>
          </p:cNvSpPr>
          <p:nvPr>
            <p:ph type="body" sz="half" idx="17"/>
          </p:nvPr>
        </p:nvSpPr>
        <p:spPr/>
        <p:txBody>
          <a:bodyPr>
            <a:normAutofit/>
          </a:bodyPr>
          <a:lstStyle/>
          <a:p>
            <a:pPr marL="285750" indent="-285750">
              <a:buFont typeface="Arial" panose="020B0604020202020204" pitchFamily="34" charset="0"/>
              <a:buChar char="•"/>
            </a:pPr>
            <a:r>
              <a:rPr lang="en-ZA" sz="2000" dirty="0"/>
              <a:t>Automated alerts so you don’t have to check reports.</a:t>
            </a:r>
          </a:p>
          <a:p>
            <a:pPr marL="285750" indent="-285750">
              <a:buFont typeface="Arial" panose="020B0604020202020204" pitchFamily="34" charset="0"/>
              <a:buChar char="•"/>
            </a:pPr>
            <a:r>
              <a:rPr lang="en-ZA" sz="2000" dirty="0"/>
              <a:t>Inventory and purchasing automation –stop wasting money on slow sellers </a:t>
            </a:r>
          </a:p>
          <a:p>
            <a:pPr marL="285750" indent="-285750">
              <a:buFont typeface="Arial" panose="020B0604020202020204" pitchFamily="34" charset="0"/>
              <a:buChar char="•"/>
            </a:pPr>
            <a:r>
              <a:rPr lang="en-ZA" sz="2000" dirty="0"/>
              <a:t>This is just to mention a few</a:t>
            </a:r>
          </a:p>
          <a:p>
            <a:pPr marL="285750" indent="-285750">
              <a:buFont typeface="Arial" panose="020B0604020202020204" pitchFamily="34" charset="0"/>
              <a:buChar char="•"/>
            </a:pPr>
            <a:endParaRPr lang="en-ZA" sz="2000" dirty="0"/>
          </a:p>
        </p:txBody>
      </p:sp>
    </p:spTree>
    <p:extLst>
      <p:ext uri="{BB962C8B-B14F-4D97-AF65-F5344CB8AC3E}">
        <p14:creationId xmlns:p14="http://schemas.microsoft.com/office/powerpoint/2010/main" val="2075285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8077F-06EA-1F0D-5D7C-C039FEAE3808}"/>
              </a:ext>
            </a:extLst>
          </p:cNvPr>
          <p:cNvSpPr>
            <a:spLocks noGrp="1"/>
          </p:cNvSpPr>
          <p:nvPr>
            <p:ph type="title"/>
          </p:nvPr>
        </p:nvSpPr>
        <p:spPr/>
        <p:txBody>
          <a:bodyPr>
            <a:normAutofit/>
          </a:bodyPr>
          <a:lstStyle/>
          <a:p>
            <a:r>
              <a:rPr lang="en-ZA" sz="4400" dirty="0">
                <a:solidFill>
                  <a:srgbClr val="FF0000"/>
                </a:solidFill>
              </a:rPr>
              <a:t>Thoughts </a:t>
            </a:r>
          </a:p>
        </p:txBody>
      </p:sp>
      <p:sp>
        <p:nvSpPr>
          <p:cNvPr id="3" name="Content Placeholder 2">
            <a:extLst>
              <a:ext uri="{FF2B5EF4-FFF2-40B4-BE49-F238E27FC236}">
                <a16:creationId xmlns:a16="http://schemas.microsoft.com/office/drawing/2014/main" id="{8B475FEE-8365-2B45-423D-005FEAE75BF8}"/>
              </a:ext>
            </a:extLst>
          </p:cNvPr>
          <p:cNvSpPr>
            <a:spLocks noGrp="1"/>
          </p:cNvSpPr>
          <p:nvPr>
            <p:ph idx="1"/>
          </p:nvPr>
        </p:nvSpPr>
        <p:spPr/>
        <p:txBody>
          <a:bodyPr>
            <a:noAutofit/>
          </a:bodyPr>
          <a:lstStyle/>
          <a:p>
            <a:pPr marL="36900" indent="0">
              <a:buNone/>
            </a:pPr>
            <a:r>
              <a:rPr lang="en-ZA" sz="2000" dirty="0"/>
              <a:t>In today’s business environment, revenue is shaped by far more than the product alone. Market trends, perception and influence now play a defining role in consumer decision- making. Customers often buy into the idea, image and promise of a brand before they experience the product itself. Hype created attention, premium branding builds desire and a clear unique selling proposition differentiates– ultimately, influence is what converts interest into demand. When a business is strategically positioned and supported by intentional, well-executed marketing campaigns, sustainable growth follows. </a:t>
            </a:r>
          </a:p>
        </p:txBody>
      </p:sp>
    </p:spTree>
    <p:extLst>
      <p:ext uri="{BB962C8B-B14F-4D97-AF65-F5344CB8AC3E}">
        <p14:creationId xmlns:p14="http://schemas.microsoft.com/office/powerpoint/2010/main" val="4058944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5EABA-657A-ADEF-C90B-E54A477B7A33}"/>
              </a:ext>
            </a:extLst>
          </p:cNvPr>
          <p:cNvSpPr>
            <a:spLocks noGrp="1"/>
          </p:cNvSpPr>
          <p:nvPr>
            <p:ph type="title"/>
          </p:nvPr>
        </p:nvSpPr>
        <p:spPr>
          <a:xfrm>
            <a:off x="805912" y="819150"/>
            <a:ext cx="10881370" cy="1257300"/>
          </a:xfrm>
        </p:spPr>
        <p:txBody>
          <a:bodyPr/>
          <a:lstStyle/>
          <a:p>
            <a:r>
              <a:rPr lang="en-ZA" dirty="0">
                <a:solidFill>
                  <a:srgbClr val="FFC000"/>
                </a:solidFill>
              </a:rPr>
              <a:t>Therefore:</a:t>
            </a:r>
          </a:p>
        </p:txBody>
      </p:sp>
      <p:sp>
        <p:nvSpPr>
          <p:cNvPr id="3" name="Content Placeholder 2">
            <a:extLst>
              <a:ext uri="{FF2B5EF4-FFF2-40B4-BE49-F238E27FC236}">
                <a16:creationId xmlns:a16="http://schemas.microsoft.com/office/drawing/2014/main" id="{42158610-B2CD-2948-B6F0-7C050F8BF28D}"/>
              </a:ext>
            </a:extLst>
          </p:cNvPr>
          <p:cNvSpPr>
            <a:spLocks noGrp="1"/>
          </p:cNvSpPr>
          <p:nvPr>
            <p:ph idx="1"/>
          </p:nvPr>
        </p:nvSpPr>
        <p:spPr>
          <a:xfrm>
            <a:off x="919119" y="2076450"/>
            <a:ext cx="10353762" cy="3714749"/>
          </a:xfrm>
        </p:spPr>
        <p:txBody>
          <a:bodyPr>
            <a:normAutofit/>
          </a:bodyPr>
          <a:lstStyle/>
          <a:p>
            <a:pPr marL="2877600" lvl="8" indent="0">
              <a:buNone/>
            </a:pPr>
            <a:r>
              <a:rPr lang="en-GB" sz="3200" dirty="0"/>
              <a:t>The true product is not coffee itself , but speed, efficiency and excellence in service. These are the real value driver in a coffee business. The beverage is expected; the experience is what differentiates.</a:t>
            </a:r>
          </a:p>
          <a:p>
            <a:pPr marL="2877600" lvl="8" indent="0">
              <a:buNone/>
            </a:pPr>
            <a:r>
              <a:rPr lang="en-GB" sz="3200" dirty="0"/>
              <a:t>                -End-</a:t>
            </a:r>
          </a:p>
        </p:txBody>
      </p:sp>
    </p:spTree>
    <p:extLst>
      <p:ext uri="{BB962C8B-B14F-4D97-AF65-F5344CB8AC3E}">
        <p14:creationId xmlns:p14="http://schemas.microsoft.com/office/powerpoint/2010/main" val="240950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052D0-3C6D-2448-9FFB-F01115F9225E}"/>
              </a:ext>
            </a:extLst>
          </p:cNvPr>
          <p:cNvSpPr>
            <a:spLocks noGrp="1"/>
          </p:cNvSpPr>
          <p:nvPr>
            <p:ph type="title"/>
          </p:nvPr>
        </p:nvSpPr>
        <p:spPr/>
        <p:txBody>
          <a:bodyPr/>
          <a:lstStyle/>
          <a:p>
            <a:r>
              <a:rPr lang="en-US" dirty="0">
                <a:solidFill>
                  <a:srgbClr val="FFC000"/>
                </a:solidFill>
              </a:rPr>
              <a:t>Q &amp; A session</a:t>
            </a:r>
          </a:p>
        </p:txBody>
      </p:sp>
      <p:pic>
        <p:nvPicPr>
          <p:cNvPr id="4" name="Content Placeholder 3">
            <a:extLst>
              <a:ext uri="{FF2B5EF4-FFF2-40B4-BE49-F238E27FC236}">
                <a16:creationId xmlns:a16="http://schemas.microsoft.com/office/drawing/2014/main" id="{B99D5640-BB37-1D2C-44B1-DF347C5ED5EB}"/>
              </a:ext>
            </a:extLst>
          </p:cNvPr>
          <p:cNvPicPr>
            <a:picLocks noGrp="1" noChangeAspect="1"/>
          </p:cNvPicPr>
          <p:nvPr>
            <p:ph idx="1"/>
          </p:nvPr>
        </p:nvPicPr>
        <p:blipFill>
          <a:blip r:embed="rId2"/>
          <a:stretch>
            <a:fillRect/>
          </a:stretch>
        </p:blipFill>
        <p:spPr>
          <a:xfrm>
            <a:off x="913795" y="1637008"/>
            <a:ext cx="10477459" cy="4611392"/>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6014046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offee">
      <a:dk1>
        <a:sysClr val="windowText" lastClr="000000"/>
      </a:dk1>
      <a:lt1>
        <a:sysClr val="window" lastClr="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THREE.pptx" id="{E781C72B-3D65-4B8D-9071-33B66AF0EF30}" vid="{3A5A58F2-9BE1-435C-B12D-88FD9BF70179}"/>
    </a:ext>
  </a:extLst>
</a:theme>
</file>

<file path=docProps/app.xml><?xml version="1.0" encoding="utf-8"?>
<Properties xmlns="http://schemas.openxmlformats.org/officeDocument/2006/extended-properties" xmlns:vt="http://schemas.openxmlformats.org/officeDocument/2006/docPropsVTypes">
  <Template>{34A7A728-7382-4FA8-ABAF-6474D0707EA2}tf12214701_win32</Template>
  <TotalTime>73805</TotalTime>
  <Words>1303</Words>
  <Application>Microsoft Macintosh PowerPoint</Application>
  <PresentationFormat>Widescreen</PresentationFormat>
  <Paragraphs>102</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Goudy Old Style</vt:lpstr>
      <vt:lpstr>Wingdings</vt:lpstr>
      <vt:lpstr>Wingdings 2</vt:lpstr>
      <vt:lpstr>SlateVTI</vt:lpstr>
      <vt:lpstr>ss </vt:lpstr>
      <vt:lpstr>Table of Content</vt:lpstr>
      <vt:lpstr>Presentation overview </vt:lpstr>
      <vt:lpstr>Data processing system.</vt:lpstr>
      <vt:lpstr> Total sales in all locations rose steadily , with lower M - and Hells K, climbing from roughly 27k in Jan to about 56k in June. H.K consistently generates the highest monthly sales . L.M slags slightly behind the other two outlets in most months </vt:lpstr>
      <vt:lpstr> sales peak in the morning bucket and generates the highest total sales across all stores, indicating that the business captures the strongest revenue  window early in the day. Some stores exhibit stronger evening sales, implying location- specific demand patterns.</vt:lpstr>
      <vt:lpstr>Total sales vs product category and time intervals </vt:lpstr>
      <vt:lpstr>The pie chart illustrates the % contribution to total sales by each location, with Hell’s kitchen slightly ahead generating the highest revenue amongst the three</vt:lpstr>
      <vt:lpstr>Results show that the top-performing product is Sustainably Grown Organic Lg within the drinking chocolate category (hot chocolate) , achieving $21,151,75 in total revenue from 4,453 units sold.</vt:lpstr>
      <vt:lpstr>The lowest- performing product is in the packaged chocolate category, specifically within the drinking chocolate product type. The dark chocolate variant generated total revenue of $4722.20 , with 118 units sold </vt:lpstr>
      <vt:lpstr>Distribution of products sales across the 3 locations highlight clear location- driven differences in category demand. L.M demonstrates stronger and more diversified product movement , indicating a mature, high- volume customer base that responds well to broad assortment. In contrast , Astoria and H.K. show more selective categories performance, suggesting localized preferences and untapped growth potential rather than overall demand weakness</vt:lpstr>
      <vt:lpstr>Sales patterns across all three Bright Coffee shop locations show a clear and consistent demand concentration in the morning period, with afternoons as a secondary  peak. This may indicate that customer traffic is primarily driven by routine, time bound consumption behaviors –such as morning commutes ,workday starts and early productivity rituals- rather than discretionary or leisure-based visits later in the day.</vt:lpstr>
      <vt:lpstr>The graph highlights the top-selling products . Popular beverages include Dark chocolate (Large), sustainably organic (Large), latte (Regular), and morning sunrise chai (Large), among others. Hot chocolate- dark chocolate ranks amongst best selling items overall</vt:lpstr>
      <vt:lpstr>Over a six-month – period, Bright coffee generated total revenue of $698,812.13 from a beverage and other - portfolio of  more than 80 products. All three locations are performing satisfactorily, with seasonal variations in individual sales remaining relatively small. In  the next section , we present strategic recommendations aimed at increasing revenue, enhancing service efficiency, and driving overall business performance </vt:lpstr>
      <vt:lpstr> </vt:lpstr>
      <vt:lpstr>Strategy and recommendations </vt:lpstr>
      <vt:lpstr>Reposition physical space</vt:lpstr>
      <vt:lpstr>Auto reporting systems </vt:lpstr>
      <vt:lpstr>Thoughts </vt:lpstr>
      <vt:lpstr>Therefore:</vt:lpstr>
      <vt:lpstr>Q &amp; A session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Nompumelelo Shabangu</dc:creator>
  <cp:lastModifiedBy>Landiwe Candice Shabangu</cp:lastModifiedBy>
  <cp:revision>3</cp:revision>
  <dcterms:created xsi:type="dcterms:W3CDTF">2025-10-06T15:07:18Z</dcterms:created>
  <dcterms:modified xsi:type="dcterms:W3CDTF">2026-03-30T14:31:39Z</dcterms:modified>
</cp:coreProperties>
</file>